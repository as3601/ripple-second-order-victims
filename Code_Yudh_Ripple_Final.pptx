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65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7" r:id="rId18"/>
    <p:sldId id="264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7744E9C8-D921-EEDF-F7F4-EFE4EC16A701}">
          <p14:sldIdLst>
            <p14:sldId id="256"/>
          </p14:sldIdLst>
        </p14:section>
        <p14:section name="Team Introduction &amp; Contributions" id="{E1B3FA3B-F095-E643-0DD2-AB5A860C0BD3}">
          <p14:sldIdLst>
            <p14:sldId id="265"/>
          </p14:sldIdLst>
        </p14:section>
        <p14:section name="Problem Statement" id="{95BD82FB-7B63-6E40-A6A1-DD3316490E75}">
          <p14:sldIdLst>
            <p14:sldId id="257"/>
          </p14:sldIdLst>
        </p14:section>
        <p14:section name="Problem Context &amp; Existing Solutions" id="{2354F58D-DFC1-AB37-83F6-3818D90C4429}">
          <p14:sldIdLst>
            <p14:sldId id="258"/>
          </p14:sldIdLst>
        </p14:section>
        <p14:section name="Proposed Solution" id="{33DEDAB2-859B-266C-0823-731D57249D1F}">
          <p14:sldIdLst>
            <p14:sldId id="259"/>
          </p14:sldIdLst>
        </p14:section>
        <p14:section name="Key Features &amp; Innovation" id="{B530DF3C-AA47-D1F1-8334-11B1A901C7B2}">
          <p14:sldIdLst>
            <p14:sldId id="260"/>
          </p14:sldIdLst>
        </p14:section>
        <p14:section name="Proposed Workflow" id="{D4291CEB-2768-4F92-A5FD-AB09BD3E5442}">
          <p14:sldIdLst>
            <p14:sldId id="261"/>
          </p14:sldIdLst>
        </p14:section>
        <p14:section name="Proposed Tech Stack" id="{947440C7-662F-6BA2-D23F-043278F9BF53}">
          <p14:sldIdLst>
            <p14:sldId id="262"/>
          </p14:sldIdLst>
        </p14:section>
        <p14:section name="Feasibility &amp; Execution Plan" id="{2B62254E-664D-82CB-488A-113C89C3CD35}">
          <p14:sldIdLst>
            <p14:sldId id="263"/>
          </p14:sldIdLst>
        </p14:section>
        <p14:section name="Expected Impact &amp; Future Scope" id="{2DDF4F52-A1EA-B9D4-C24E-E0362386381B}">
          <p14:sldIdLst>
            <p14:sldId id="264"/>
          </p14:sldIdLst>
        </p14:section>
        <p14:section name="Closing" id="{2F3E9D2C-FC9B-F0DD-E878-19003121750B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  <Relationship Id="rId18" Type="http://schemas.openxmlformats.org/officeDocument/2006/relationships/slide" Target="slides/slide12.xml"/>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49315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Four-member team with clear ownership: Aditya builds the engine and AI, Bhavya owns research, data and wording, Piyush builds the interface and deployment, Arnav designs the workflow and leads the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system today answers the question that matters in the first hours after an event.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Existing tools are first-order. We shift the question from 'map the damage' to 'map the consequences'.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Illustrative cascade for one event. The system predicts every column after the first automatically.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USP: cross-domain, predictive and vulnerability-aware, with verified news in and plain-language alerts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through the Sukhna Choe bridge collapse: news scan, official approval, public page, after-action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Everything is free: open map data, a free news feed, a local open-source AI and free hosting.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 just feasible: it is built, on GitHub and live online at ripple-2vx1.onrender.com.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Goal: move resources toward second-order victims before they become the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Y_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Y_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cy/warrior_w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6588" y="2468880"/>
            <a:ext cx="6056684" cy="438912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200" b="1" kern="0" spc="300" dirty="0">
                <a:solidFill>
                  <a:schemeClr val="accent1"/>
                </a:solidFill>
              </a:defRPr>
            </a:lvl1pPr>
          </a:lstStyle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4" name="Text 0"/>
          <p:cNvSpPr>
            <a:spLocks noGrp="1"/>
          </p:cNvSpPr>
          <p:nvPr>
            <p:ph type="title" idx="102" hasCustomPrompt="1"/>
          </p:nvPr>
        </p:nvSpPr>
        <p:spPr>
          <a:xfrm>
            <a:off x="548640" y="676656"/>
            <a:ext cx="9509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5" name="Text 0"/>
          <p:cNvSpPr>
            <a:spLocks noGrp="1"/>
          </p:cNvSpPr>
          <p:nvPr>
            <p:ph type="body" idx="103" hasCustomPrompt="1"/>
          </p:nvPr>
        </p:nvSpPr>
        <p:spPr>
          <a:xfrm>
            <a:off x="548640" y="1783080"/>
            <a:ext cx="6949440" cy="4297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200" dirty="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</a:pPr>
            <a:endParaRPr lang="en-US" sz="2200" dirty="0"/>
          </a:p>
        </p:txBody>
      </p:sp>
      <p:sp>
        <p:nvSpPr>
          <p:cNvPr id="6" name="Text 0"/>
          <p:cNvSpPr/>
          <p:nvPr/>
        </p:nvSpPr>
        <p:spPr>
          <a:xfrm>
            <a:off x="548640" y="635508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chemeClr val="accent4"/>
                </a:solidFill>
              </a:rPr>
              <a:t>CODE YUDH HACKATHON  ·  DEPARTMENT OF COMPUTER SCIENCE &amp; ENGINEERING  ·  CHANDIGARH UNIVERSITY</a:t>
            </a:r>
            <a:endParaRPr lang="en-US" sz="1000" dirty="0"/>
          </a:p>
        </p:txBody>
      </p:sp>
      <p:pic>
        <p:nvPicPr>
          <p:cNvPr id="7" name="Image 1" descr="/home/claude/cy/logo_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80192" y="274320"/>
            <a:ext cx="1051560" cy="74066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Y_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P0" Type="http://schemas.openxmlformats.org/officeDocument/2006/relationships/image" Target="../media/proto_public.jpeg"/><Relationship Id="rIdP1" Type="http://schemas.openxmlformats.org/officeDocument/2006/relationships/image" Target="../media/proto_dashboard.jpeg"/><Relationship Id="rIdP2" Type="http://schemas.openxmlformats.org/officeDocument/2006/relationships/image" Target="../media/proto_official.jpeg"/><Relationship Id="rIdP3" Type="http://schemas.openxmlformats.org/officeDocument/2006/relationships/image" Target="../media/proto_drills.jpeg"/><Relationship Id="rIdL1" Type="http://schemas.openxmlformats.org/officeDocument/2006/relationships/hyperlink" Target="https://ripple-2vx1.onrender.com/public" TargetMode="External"/><Relationship Id="rIdL2" Type="http://schemas.openxmlformats.org/officeDocument/2006/relationships/hyperlink" Target="https://github.com/as3601/ripple-second-order-victim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Warrior" descr="/home/claude/cy/warri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1881" y="1828800"/>
            <a:ext cx="6939951" cy="5029200"/>
          </a:xfrm>
          <a:prstGeom prst="rect">
            <a:avLst/>
          </a:prstGeom>
        </p:spPr>
      </p:pic>
      <p:sp>
        <p:nvSpPr>
          <p:cNvPr id="3" name="Logo badge"/>
          <p:cNvSpPr/>
          <p:nvPr/>
        </p:nvSpPr>
        <p:spPr>
          <a:xfrm>
            <a:off x="640080" y="502920"/>
            <a:ext cx="4133088" cy="1234440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/>
          <a:effectLst>
            <a:outerShdw blurRad="1524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4" name="Chandigarh University logo" descr="/home/claude/cy/c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790956"/>
            <a:ext cx="1851660" cy="658368"/>
          </a:xfrm>
          <a:prstGeom prst="rect">
            <a:avLst/>
          </a:prstGeom>
        </p:spPr>
      </p:pic>
      <p:sp>
        <p:nvSpPr>
          <p:cNvPr id="5" name="Logo divider"/>
          <p:cNvSpPr/>
          <p:nvPr/>
        </p:nvSpPr>
        <p:spPr>
          <a:xfrm>
            <a:off x="2948940" y="731520"/>
            <a:ext cx="0" cy="777240"/>
          </a:xfrm>
          <a:prstGeom prst="line">
            <a:avLst/>
          </a:prstGeom>
          <a:noFill/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6" name="Hackathon logo" descr="/home/claude/cy/logo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7540" y="640080"/>
            <a:ext cx="1367028" cy="960120"/>
          </a:xfrm>
          <a:prstGeom prst="rect">
            <a:avLst/>
          </a:prstGeom>
        </p:spPr>
      </p:pic>
      <p:sp>
        <p:nvSpPr>
          <p:cNvPr id="7" name="PROJECT NAME label"/>
          <p:cNvSpPr txBox="1"/>
          <p:nvPr/>
        </p:nvSpPr>
        <p:spPr>
          <a:xfrm>
            <a:off x="640080" y="2148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chemeClr val="accent1"/>
                </a:solidFill>
              </a:rPr>
              <a:t>PROJECT NAME</a:t>
            </a:r>
            <a:endParaRPr lang="en-US" sz="1200" dirty="0"/>
          </a:p>
        </p:txBody>
      </p:sp>
      <p:sp>
        <p:nvSpPr>
          <p:cNvPr id="8" name="PROJECT NAME field"/>
          <p:cNvSpPr txBox="1"/>
          <p:nvPr/>
        </p:nvSpPr>
        <p:spPr>
          <a:xfrm>
            <a:off x="640080" y="242316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9D6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for Second-Order Victims</a:t>
            </a:r>
            <a:endParaRPr lang="en-US" sz="3200" dirty="0"/>
          </a:p>
        </p:txBody>
      </p:sp>
      <p:sp>
        <p:nvSpPr>
          <p:cNvPr id="9" name="TAGLINE label"/>
          <p:cNvSpPr txBox="1"/>
          <p:nvPr/>
        </p:nvSpPr>
        <p:spPr>
          <a:xfrm>
            <a:off x="640080" y="3063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chemeClr val="accent1"/>
                </a:solidFill>
              </a:rPr>
              <a:t>TAGLINE</a:t>
            </a:r>
            <a:endParaRPr lang="en-US" sz="1200" dirty="0"/>
          </a:p>
        </p:txBody>
      </p:sp>
      <p:sp>
        <p:nvSpPr>
          <p:cNvPr id="10" name="TAGLINE field"/>
          <p:cNvSpPr txBox="1"/>
          <p:nvPr/>
        </p:nvSpPr>
        <p:spPr>
          <a:xfrm>
            <a:off x="640080" y="333756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9D6C2"/>
                </a:solidFill>
              </a:rPr>
              <a:t>Ripple: who gets hurt next when disaster strikes</a:t>
            </a:r>
            <a:endParaRPr lang="en-US" sz="1800" dirty="0"/>
          </a:p>
        </p:txBody>
      </p:sp>
      <p:sp>
        <p:nvSpPr>
          <p:cNvPr id="11" name="TEAM NAME label"/>
          <p:cNvSpPr txBox="1"/>
          <p:nvPr/>
        </p:nvSpPr>
        <p:spPr>
          <a:xfrm>
            <a:off x="640080" y="4160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chemeClr val="accent1"/>
                </a:solidFill>
              </a:rPr>
              <a:t>TEAM NAME</a:t>
            </a:r>
            <a:endParaRPr lang="en-US" sz="1200" dirty="0"/>
          </a:p>
        </p:txBody>
      </p:sp>
      <p:sp>
        <p:nvSpPr>
          <p:cNvPr id="12" name="TEAM NAME field"/>
          <p:cNvSpPr txBox="1"/>
          <p:nvPr/>
        </p:nvSpPr>
        <p:spPr>
          <a:xfrm>
            <a:off x="640080" y="443484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9D6C2"/>
                </a:solidFill>
              </a:rPr>
              <a:t>Keep It Simple</a:t>
            </a:r>
            <a:endParaRPr lang="en-US" sz="1800" dirty="0"/>
          </a:p>
        </p:txBody>
      </p:sp>
      <p:sp>
        <p:nvSpPr>
          <p:cNvPr id="13" name="TEAM MEMBERS label"/>
          <p:cNvSpPr txBox="1"/>
          <p:nvPr/>
        </p:nvSpPr>
        <p:spPr>
          <a:xfrm>
            <a:off x="640080" y="4937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IN" sz="1200" b="1" kern="0" spc="300" dirty="0">
                <a:solidFill>
                  <a:schemeClr val="accent1"/>
                </a:solidFill>
              </a:rPr>
              <a:t>TRACK</a:t>
            </a:r>
            <a:endParaRPr lang="en-US" sz="1200" dirty="0"/>
          </a:p>
        </p:txBody>
      </p:sp>
      <p:sp>
        <p:nvSpPr>
          <p:cNvPr id="14" name="TEAM MEMBERS field"/>
          <p:cNvSpPr txBox="1"/>
          <p:nvPr/>
        </p:nvSpPr>
        <p:spPr>
          <a:xfrm>
            <a:off x="640080" y="5212080"/>
            <a:ext cx="5029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E9D6C2"/>
                </a:solidFill>
              </a:rPr>
              <a:t>Smart Cities &amp; Disaster Response</a:t>
            </a:r>
            <a:endParaRPr lang="en-US" sz="1800" dirty="0"/>
          </a:p>
        </p:txBody>
      </p:sp>
      <p:sp>
        <p:nvSpPr>
          <p:cNvPr id="90" name="Organiser"/>
          <p:cNvSpPr txBox="1"/>
          <p:nvPr/>
        </p:nvSpPr>
        <p:spPr>
          <a:xfrm>
            <a:off x="640080" y="576072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100" b="1" spc="300" dirty="0">
                <a:solidFill>
                  <a:schemeClr val="accent1"/>
                </a:solidFill>
              </a:rPr>
              <a:t>ORGANISED BY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Department of Computer Science &amp; Engineering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5"/>
                </a:solidFill>
              </a:rPr>
              <a:t>Chandigarh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chemeClr val="accent1"/>
                </a:solidFill>
              </a:rPr>
              <a:t>01  ·  TEAM INTRODUCTION &amp; CONTRIBUTIONS</a:t>
            </a: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2" hasCustomPrompt="1"/>
          </p:nvPr>
        </p:nvSpPr>
        <p:spPr>
          <a:xfrm>
            <a:off x="548640" y="676656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1"/>
                </a:solidFill>
              </a:rPr>
              <a:t>Team Introduction &amp; Contributions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  <p:sp>
        <p:nvSpPr>
          <p:cNvPr id="200" name="Card Aditya Sharma"/>
          <p:cNvSpPr/>
          <p:nvPr/>
        </p:nvSpPr>
        <p:spPr>
          <a:xfrm>
            <a:off x="548640" y="1691640"/>
            <a:ext cx="2606040" cy="406908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1" name="Initials Aditya Sharma"/>
          <p:cNvSpPr/>
          <p:nvPr/>
        </p:nvSpPr>
        <p:spPr>
          <a:xfrm>
            <a:off x="777240" y="1920240"/>
            <a:ext cx="640080" cy="64008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chemeClr val="bg1"/>
                </a:solidFill>
                <a:latin typeface="+mj-lt"/>
              </a:rPr>
              <a:t>AS</a:t>
            </a:r>
          </a:p>
        </p:txBody>
      </p:sp>
      <p:sp>
        <p:nvSpPr>
          <p:cNvPr id="202" name="Name Aditya Sharma"/>
          <p:cNvSpPr txBox="1"/>
          <p:nvPr/>
        </p:nvSpPr>
        <p:spPr>
          <a:xfrm>
            <a:off x="1536192" y="1920240"/>
            <a:ext cx="1481328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chemeClr val="tx1"/>
                </a:solidFill>
                <a:latin typeface="+mj-lt"/>
              </a:rPr>
              <a:t>Aditya Sharma</a:t>
            </a:r>
          </a:p>
          <a:p>
            <a:pPr algn="l"/>
            <a:r>
              <a:rPr sz="900" b="1" i="0" spc="50">
                <a:solidFill>
                  <a:schemeClr val="accent1"/>
                </a:solidFill>
                <a:latin typeface="+mn-lt"/>
              </a:rPr>
              <a:t>TECH LEAD · BACKEND</a:t>
            </a:r>
          </a:p>
        </p:txBody>
      </p:sp>
      <p:sp>
        <p:nvSpPr>
          <p:cNvPr id="203" name="Details Aditya Sharma"/>
          <p:cNvSpPr txBox="1"/>
          <p:nvPr/>
        </p:nvSpPr>
        <p:spPr>
          <a:xfrm>
            <a:off x="777240" y="2788920"/>
            <a:ext cx="2148840" cy="2651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 spc="200" dirty="0">
                <a:solidFill>
                  <a:schemeClr val="accent1"/>
                </a:solidFill>
                <a:latin typeface="+mn-lt"/>
              </a:rPr>
              <a:t>SKILLS</a:t>
            </a:r>
          </a:p>
          <a:p>
            <a:pPr algn="l">
              <a:spcAft>
                <a:spcPts val="1200"/>
              </a:spcAft>
            </a:pPr>
            <a:r>
              <a:rPr sz="1300" b="0" i="0" dirty="0">
                <a:solidFill>
                  <a:schemeClr val="tx2"/>
                </a:solidFill>
                <a:latin typeface="+mn-lt"/>
              </a:rPr>
              <a:t>Python, FastAPI, NetworkX graph algorithms, local LLMs (Ollama)</a:t>
            </a:r>
          </a:p>
          <a:p>
            <a:pPr algn="l">
              <a:spcAft>
                <a:spcPts val="400"/>
              </a:spcAft>
            </a:pPr>
            <a:r>
              <a:rPr sz="1100" b="1" i="0" spc="200" dirty="0">
                <a:solidFill>
                  <a:schemeClr val="accent1"/>
                </a:solidFill>
                <a:latin typeface="+mn-lt"/>
              </a:rPr>
              <a:t>RESPONSIBILITIES</a:t>
            </a:r>
          </a:p>
          <a:p>
            <a:pPr marL="201168" indent="-201168" algn="l">
              <a:spcAft>
                <a:spcPts val="4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300" b="0" i="0" dirty="0">
                <a:solidFill>
                  <a:schemeClr val="tx2"/>
                </a:solidFill>
                <a:latin typeface="+mn-lt"/>
              </a:rPr>
              <a:t>Built the cascade engine and impact scoring</a:t>
            </a:r>
          </a:p>
          <a:p>
            <a:pPr marL="201168" indent="-201168" algn="l">
              <a:spcAft>
                <a:spcPts val="4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300" b="0" i="0" dirty="0">
                <a:solidFill>
                  <a:schemeClr val="tx2"/>
                </a:solidFill>
                <a:latin typeface="+mn-lt"/>
              </a:rPr>
              <a:t>Wrote the APIs and AI briefings</a:t>
            </a:r>
          </a:p>
          <a:p>
            <a:pPr marL="201168" indent="-201168" algn="l">
              <a:spcAft>
                <a:spcPts val="4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300" b="0" i="0" dirty="0">
                <a:solidFill>
                  <a:schemeClr val="tx2"/>
                </a:solidFill>
                <a:latin typeface="+mn-lt"/>
              </a:rPr>
              <a:t>Built the learning loop from outcomes</a:t>
            </a:r>
          </a:p>
        </p:txBody>
      </p:sp>
      <p:sp>
        <p:nvSpPr>
          <p:cNvPr id="204" name="Card Bhavya Srivastava"/>
          <p:cNvSpPr/>
          <p:nvPr/>
        </p:nvSpPr>
        <p:spPr>
          <a:xfrm>
            <a:off x="3383280" y="1691640"/>
            <a:ext cx="2606040" cy="406908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5" name="Initials Bhavya Srivastava"/>
          <p:cNvSpPr/>
          <p:nvPr/>
        </p:nvSpPr>
        <p:spPr>
          <a:xfrm>
            <a:off x="3611880" y="1920240"/>
            <a:ext cx="640080" cy="64008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chemeClr val="bg1"/>
                </a:solidFill>
                <a:latin typeface="+mj-lt"/>
              </a:rPr>
              <a:t>BS</a:t>
            </a:r>
          </a:p>
        </p:txBody>
      </p:sp>
      <p:sp>
        <p:nvSpPr>
          <p:cNvPr id="206" name="Name Bhavya Srivastava"/>
          <p:cNvSpPr txBox="1"/>
          <p:nvPr/>
        </p:nvSpPr>
        <p:spPr>
          <a:xfrm>
            <a:off x="4370832" y="1920240"/>
            <a:ext cx="1481328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chemeClr val="tx1"/>
                </a:solidFill>
                <a:latin typeface="+mj-lt"/>
              </a:rPr>
              <a:t>Bhavya Srivastava</a:t>
            </a:r>
          </a:p>
          <a:p>
            <a:pPr algn="l"/>
            <a:r>
              <a:rPr sz="900" b="1" i="0" spc="50">
                <a:solidFill>
                  <a:schemeClr val="accent1"/>
                </a:solidFill>
                <a:latin typeface="+mn-lt"/>
              </a:rPr>
              <a:t>RESEARCH · CONTENT</a:t>
            </a:r>
          </a:p>
        </p:txBody>
      </p:sp>
      <p:sp>
        <p:nvSpPr>
          <p:cNvPr id="207" name="Details Bhavya Srivastava"/>
          <p:cNvSpPr txBox="1"/>
          <p:nvPr/>
        </p:nvSpPr>
        <p:spPr>
          <a:xfrm>
            <a:off x="3611880" y="2788920"/>
            <a:ext cx="2148840" cy="2651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 spc="200" dirty="0">
                <a:solidFill>
                  <a:schemeClr val="accent1"/>
                </a:solidFill>
                <a:latin typeface="+mn-lt"/>
              </a:rPr>
              <a:t>SKILLS</a:t>
            </a:r>
          </a:p>
          <a:p>
            <a:pPr algn="l">
              <a:spcAft>
                <a:spcPts val="1200"/>
              </a:spcAft>
            </a:pPr>
            <a:r>
              <a:rPr sz="1300" b="0" i="0" dirty="0">
                <a:solidFill>
                  <a:schemeClr val="tx2"/>
                </a:solidFill>
                <a:latin typeface="+mn-lt"/>
              </a:rPr>
              <a:t>Domain research, OpenStreetMap data, UX writing, documentation</a:t>
            </a:r>
          </a:p>
          <a:p>
            <a:pPr algn="l">
              <a:spcAft>
                <a:spcPts val="400"/>
              </a:spcAft>
            </a:pPr>
            <a:r>
              <a:rPr sz="1100" b="1" i="0" spc="200" dirty="0">
                <a:solidFill>
                  <a:schemeClr val="accent1"/>
                </a:solidFill>
                <a:latin typeface="+mn-lt"/>
              </a:rPr>
              <a:t>RESPONSIBILITIES</a:t>
            </a:r>
          </a:p>
          <a:p>
            <a:pPr marL="201168" indent="-201168" algn="l">
              <a:spcAft>
                <a:spcPts val="4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300" b="0" i="0" dirty="0">
                <a:solidFill>
                  <a:schemeClr val="tx2"/>
                </a:solidFill>
                <a:latin typeface="+mn-lt"/>
              </a:rPr>
              <a:t>Researched dependencies and past disasters</a:t>
            </a:r>
          </a:p>
          <a:p>
            <a:pPr marL="201168" indent="-201168" algn="l">
              <a:spcAft>
                <a:spcPts val="4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300" b="0" i="0" dirty="0">
                <a:solidFill>
                  <a:schemeClr val="tx2"/>
                </a:solidFill>
                <a:latin typeface="+mn-lt"/>
              </a:rPr>
              <a:t>Sourced map data and wrote the drill cases</a:t>
            </a:r>
          </a:p>
          <a:p>
            <a:pPr marL="201168" indent="-201168" algn="l">
              <a:spcAft>
                <a:spcPts val="4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300" b="0" i="0" dirty="0">
                <a:solidFill>
                  <a:schemeClr val="tx2"/>
                </a:solidFill>
                <a:latin typeface="+mn-lt"/>
              </a:rPr>
              <a:t>Made public alerts plain and trustworthy</a:t>
            </a:r>
          </a:p>
        </p:txBody>
      </p:sp>
      <p:sp>
        <p:nvSpPr>
          <p:cNvPr id="208" name="Card Piyush Kumar"/>
          <p:cNvSpPr/>
          <p:nvPr/>
        </p:nvSpPr>
        <p:spPr>
          <a:xfrm>
            <a:off x="6217920" y="1691640"/>
            <a:ext cx="2606040" cy="406908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9" name="Initials Piyush Kumar"/>
          <p:cNvSpPr/>
          <p:nvPr/>
        </p:nvSpPr>
        <p:spPr>
          <a:xfrm>
            <a:off x="6446520" y="1920240"/>
            <a:ext cx="640080" cy="64008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chemeClr val="bg1"/>
                </a:solidFill>
                <a:latin typeface="+mj-lt"/>
              </a:rPr>
              <a:t>PK</a:t>
            </a:r>
          </a:p>
        </p:txBody>
      </p:sp>
      <p:sp>
        <p:nvSpPr>
          <p:cNvPr id="210" name="Name Piyush Kumar"/>
          <p:cNvSpPr txBox="1"/>
          <p:nvPr/>
        </p:nvSpPr>
        <p:spPr>
          <a:xfrm>
            <a:off x="7205472" y="1920240"/>
            <a:ext cx="1481328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chemeClr val="tx1"/>
                </a:solidFill>
                <a:latin typeface="+mj-lt"/>
              </a:rPr>
              <a:t>Piyush Kumar</a:t>
            </a:r>
          </a:p>
          <a:p>
            <a:pPr algn="l"/>
            <a:r>
              <a:rPr sz="900" b="1" i="0" spc="50">
                <a:solidFill>
                  <a:schemeClr val="accent1"/>
                </a:solidFill>
                <a:latin typeface="+mn-lt"/>
              </a:rPr>
              <a:t>FRONTEND · DEPLOYMENT</a:t>
            </a:r>
          </a:p>
        </p:txBody>
      </p:sp>
      <p:sp>
        <p:nvSpPr>
          <p:cNvPr id="211" name="Details Piyush Kumar"/>
          <p:cNvSpPr txBox="1"/>
          <p:nvPr/>
        </p:nvSpPr>
        <p:spPr>
          <a:xfrm>
            <a:off x="6446520" y="2788920"/>
            <a:ext cx="2148840" cy="2651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 spc="200" dirty="0">
                <a:solidFill>
                  <a:schemeClr val="accent1"/>
                </a:solidFill>
                <a:latin typeface="+mn-lt"/>
              </a:rPr>
              <a:t>SKILLS</a:t>
            </a:r>
          </a:p>
          <a:p>
            <a:pPr algn="l">
              <a:spcAft>
                <a:spcPts val="1200"/>
              </a:spcAft>
            </a:pPr>
            <a:r>
              <a:rPr sz="1300" b="0" i="0" dirty="0">
                <a:solidFill>
                  <a:schemeClr val="tx2"/>
                </a:solidFill>
                <a:latin typeface="+mn-lt"/>
              </a:rPr>
              <a:t>JavaScript, HTML/CSS, Leaflet maps, responsive design, cloud hosting</a:t>
            </a:r>
          </a:p>
          <a:p>
            <a:pPr algn="l">
              <a:spcAft>
                <a:spcPts val="400"/>
              </a:spcAft>
            </a:pPr>
            <a:r>
              <a:rPr sz="1100" b="1" i="0" spc="200" dirty="0">
                <a:solidFill>
                  <a:schemeClr val="accent1"/>
                </a:solidFill>
                <a:latin typeface="+mn-lt"/>
              </a:rPr>
              <a:t>RESPONSIBILITIES</a:t>
            </a:r>
          </a:p>
          <a:p>
            <a:pPr marL="201168" indent="-201168" algn="l">
              <a:spcAft>
                <a:spcPts val="4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300" b="0" i="0" dirty="0">
                <a:solidFill>
                  <a:schemeClr val="tx2"/>
                </a:solidFill>
                <a:latin typeface="+mn-lt"/>
              </a:rPr>
              <a:t>Built the map dashboards and citizen page</a:t>
            </a:r>
          </a:p>
          <a:p>
            <a:pPr marL="201168" indent="-201168" algn="l">
              <a:spcAft>
                <a:spcPts val="4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300" b="0" i="0" dirty="0">
                <a:solidFill>
                  <a:schemeClr val="tx2"/>
                </a:solidFill>
                <a:latin typeface="+mn-lt"/>
              </a:rPr>
              <a:t>Built the official console and drill screens</a:t>
            </a:r>
          </a:p>
          <a:p>
            <a:pPr marL="201168" indent="-201168" algn="l">
              <a:spcAft>
                <a:spcPts val="4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300" b="0" i="0" dirty="0">
                <a:solidFill>
                  <a:schemeClr val="tx2"/>
                </a:solidFill>
                <a:latin typeface="+mn-lt"/>
              </a:rPr>
              <a:t>Deployed Ripple online and tested on phones</a:t>
            </a:r>
          </a:p>
        </p:txBody>
      </p:sp>
      <p:sp>
        <p:nvSpPr>
          <p:cNvPr id="212" name="Card Arnav Baheti"/>
          <p:cNvSpPr/>
          <p:nvPr/>
        </p:nvSpPr>
        <p:spPr>
          <a:xfrm>
            <a:off x="9052560" y="1691640"/>
            <a:ext cx="2606040" cy="406908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3" name="Initials Arnav Baheti"/>
          <p:cNvSpPr/>
          <p:nvPr/>
        </p:nvSpPr>
        <p:spPr>
          <a:xfrm>
            <a:off x="9281160" y="1920240"/>
            <a:ext cx="640080" cy="64008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chemeClr val="bg1"/>
                </a:solidFill>
                <a:latin typeface="+mj-lt"/>
              </a:rPr>
              <a:t>AB</a:t>
            </a:r>
          </a:p>
        </p:txBody>
      </p:sp>
      <p:sp>
        <p:nvSpPr>
          <p:cNvPr id="214" name="Name Arnav Baheti"/>
          <p:cNvSpPr txBox="1"/>
          <p:nvPr/>
        </p:nvSpPr>
        <p:spPr>
          <a:xfrm>
            <a:off x="10040112" y="1920240"/>
            <a:ext cx="1481328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chemeClr val="tx1"/>
                </a:solidFill>
                <a:latin typeface="+mj-lt"/>
              </a:rPr>
              <a:t>Arnav Baheti</a:t>
            </a:r>
          </a:p>
          <a:p>
            <a:pPr algn="l"/>
            <a:r>
              <a:rPr sz="900" b="1" i="0" spc="50">
                <a:solidFill>
                  <a:schemeClr val="accent1"/>
                </a:solidFill>
                <a:latin typeface="+mn-lt"/>
              </a:rPr>
              <a:t>TEAM LEAD · PRODUCT</a:t>
            </a:r>
          </a:p>
        </p:txBody>
      </p:sp>
      <p:sp>
        <p:nvSpPr>
          <p:cNvPr id="215" name="Details Arnav Baheti"/>
          <p:cNvSpPr txBox="1"/>
          <p:nvPr/>
        </p:nvSpPr>
        <p:spPr>
          <a:xfrm>
            <a:off x="9281160" y="2788920"/>
            <a:ext cx="2148840" cy="2651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 spc="200" dirty="0">
                <a:solidFill>
                  <a:schemeClr val="accent1"/>
                </a:solidFill>
                <a:latin typeface="+mn-lt"/>
              </a:rPr>
              <a:t>SKILLS</a:t>
            </a:r>
          </a:p>
          <a:p>
            <a:pPr algn="l">
              <a:spcAft>
                <a:spcPts val="1200"/>
              </a:spcAft>
            </a:pPr>
            <a:r>
              <a:rPr sz="1300" b="0" i="0" dirty="0">
                <a:solidFill>
                  <a:schemeClr val="tx2"/>
                </a:solidFill>
                <a:latin typeface="+mn-lt"/>
              </a:rPr>
              <a:t>Planning, product design, integration testing, pitching</a:t>
            </a:r>
          </a:p>
          <a:p>
            <a:pPr algn="l">
              <a:spcAft>
                <a:spcPts val="400"/>
              </a:spcAft>
            </a:pPr>
            <a:r>
              <a:rPr sz="1100" b="1" i="0" spc="200" dirty="0">
                <a:solidFill>
                  <a:schemeClr val="accent1"/>
                </a:solidFill>
                <a:latin typeface="+mn-lt"/>
              </a:rPr>
              <a:t>RESPONSIBILITIES</a:t>
            </a:r>
          </a:p>
          <a:p>
            <a:pPr marL="201168" indent="-201168" algn="l">
              <a:spcAft>
                <a:spcPts val="4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300" b="0" i="0" dirty="0">
                <a:solidFill>
                  <a:schemeClr val="tx2"/>
                </a:solidFill>
                <a:latin typeface="+mn-lt"/>
              </a:rPr>
              <a:t>Designed the news-verification workflow</a:t>
            </a:r>
          </a:p>
          <a:p>
            <a:pPr marL="201168" indent="-201168" algn="l">
              <a:spcAft>
                <a:spcPts val="4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300" b="0" i="0" dirty="0">
                <a:solidFill>
                  <a:schemeClr val="tx2"/>
                </a:solidFill>
                <a:latin typeface="+mn-lt"/>
              </a:rPr>
              <a:t>Coordinated integration and testing</a:t>
            </a:r>
          </a:p>
          <a:p>
            <a:pPr marL="201168" indent="-201168" algn="l">
              <a:spcAft>
                <a:spcPts val="4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300" b="0" i="0" dirty="0">
                <a:solidFill>
                  <a:schemeClr val="tx2"/>
                </a:solidFill>
                <a:latin typeface="+mn-lt"/>
              </a:rPr>
              <a:t>Leads the final pitch and judge Q&amp;A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chemeClr val="accent1"/>
                </a:solidFill>
              </a:rPr>
              <a:t>02  ·  PROBLEM STATEMENT</a:t>
            </a: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2" hasCustomPrompt="1"/>
          </p:nvPr>
        </p:nvSpPr>
        <p:spPr>
          <a:xfrm>
            <a:off x="548640" y="676656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1"/>
                </a:solidFill>
              </a:rPr>
              <a:t>Problem Statement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1600200"/>
            <a:ext cx="6309360" cy="4389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 spc="200">
                <a:solidFill>
                  <a:schemeClr val="accent1"/>
                </a:solidFill>
                <a:latin typeface="+mn-lt"/>
              </a:rPr>
              <a:t>PROBLEM DEFINITION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chemeClr val="tx2"/>
                </a:solidFill>
                <a:latin typeface="+mn-lt"/>
              </a:rPr>
              <a:t>When a bridge collapses, a flood hits or a factory shuts, response focuses on the visible first-order damage: the blocked road or the closed building.</a:t>
            </a:r>
          </a:p>
          <a:p>
            <a:pPr algn="l">
              <a:spcAft>
                <a:spcPts val="1800"/>
              </a:spcAft>
            </a:pPr>
            <a:r>
              <a:rPr sz="1500" b="0" i="0">
                <a:solidFill>
                  <a:schemeClr val="tx2"/>
                </a:solidFill>
                <a:latin typeface="+mn-lt"/>
              </a:rPr>
              <a:t>Everything that depends on that damage goes unnoticed. A blocked road is also an ambulance route, a school-bus path and a medicine supply line. These second- and third-order effects are found only after they cause harm.</a:t>
            </a:r>
          </a:p>
          <a:p>
            <a:pPr algn="l">
              <a:spcAft>
                <a:spcPts val="400"/>
              </a:spcAft>
            </a:pPr>
            <a:r>
              <a:rPr sz="1100" b="1" i="0" spc="200">
                <a:solidFill>
                  <a:schemeClr val="accent1"/>
                </a:solidFill>
                <a:latin typeface="+mn-lt"/>
              </a:rPr>
              <a:t>IMPORTANCE OF THE PROBLEM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chemeClr val="tx2"/>
                </a:solidFill>
                <a:latin typeface="+mn-lt"/>
              </a:rPr>
              <a:t>Response is reactive and siloed: traffic, hospitals and schools each manage their own problem without seeing how it is about to become someone else's.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chemeClr val="tx2"/>
                </a:solidFill>
                <a:latin typeface="+mn-lt"/>
              </a:rPr>
              <a:t>The cost falls on the most vulnerable: patients waiting for ambulances, elderly residents relying on medicine delivery, and daily-wage workers cut off from work.</a:t>
            </a:r>
          </a:p>
        </p:txBody>
      </p:sp>
      <p:sp>
        <p:nvSpPr>
          <p:cNvPr id="27" name="Question card"/>
          <p:cNvSpPr/>
          <p:nvPr/>
        </p:nvSpPr>
        <p:spPr>
          <a:xfrm>
            <a:off x="7269480" y="1600200"/>
            <a:ext cx="4370832" cy="438912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635240" y="1920240"/>
            <a:ext cx="3639312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 spc="200">
                <a:solidFill>
                  <a:schemeClr val="accent5"/>
                </a:solidFill>
                <a:latin typeface="+mn-lt"/>
              </a:rPr>
              <a:t>THE UNANSWERED QUESTION</a:t>
            </a:r>
          </a:p>
          <a:p>
            <a:pPr algn="l"/>
            <a:r>
              <a:rPr sz="2600" b="1" i="1">
                <a:solidFill>
                  <a:schemeClr val="bg1"/>
                </a:solidFill>
                <a:latin typeface="+mj-lt"/>
              </a:rPr>
              <a:t>“Who will be affected next?”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35240" y="3474720"/>
            <a:ext cx="3639312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 i="0" spc="200">
                <a:solidFill>
                  <a:schemeClr val="accent5"/>
                </a:solidFill>
                <a:latin typeface="+mn-lt"/>
              </a:rPr>
              <a:t>TARGET AUDIENCE</a:t>
            </a:r>
          </a:p>
          <a:p>
            <a:pPr marL="201168" indent="-201168" algn="l">
              <a:spcAft>
                <a:spcPts val="6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400" b="0" i="0">
                <a:solidFill>
                  <a:schemeClr val="bg1"/>
                </a:solidFill>
                <a:latin typeface="+mn-lt"/>
              </a:rPr>
              <a:t>City disaster-management and emergency control rooms</a:t>
            </a:r>
          </a:p>
          <a:p>
            <a:pPr marL="201168" indent="-201168" algn="l">
              <a:spcAft>
                <a:spcPts val="6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400" b="0" i="0">
                <a:solidFill>
                  <a:schemeClr val="bg1"/>
                </a:solidFill>
                <a:latin typeface="+mn-lt"/>
              </a:rPr>
              <a:t>Hospitals and ambulance services</a:t>
            </a:r>
          </a:p>
          <a:p>
            <a:pPr marL="201168" indent="-201168" algn="l">
              <a:spcAft>
                <a:spcPts val="6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400" b="0" i="0">
                <a:solidFill>
                  <a:schemeClr val="bg1"/>
                </a:solidFill>
                <a:latin typeface="+mn-lt"/>
              </a:rPr>
              <a:t>Schools and public-transport operators</a:t>
            </a:r>
          </a:p>
          <a:p>
            <a:pPr marL="201168" indent="-201168" algn="l">
              <a:spcAft>
                <a:spcPts val="6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400" b="0" i="0">
                <a:solidFill>
                  <a:schemeClr val="bg1"/>
                </a:solidFill>
                <a:latin typeface="+mn-lt"/>
              </a:rPr>
              <a:t>Delivery networks, NGOs and city planners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chemeClr val="accent1"/>
                </a:solidFill>
              </a:rPr>
              <a:t>03  ·  PROBLEM CONTEXT &amp; EXISTING SOLUTIONS</a:t>
            </a: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2" hasCustomPrompt="1"/>
          </p:nvPr>
        </p:nvSpPr>
        <p:spPr>
          <a:xfrm>
            <a:off x="548640" y="676656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1"/>
                </a:solidFill>
              </a:rPr>
              <a:t>Problem Context &amp; Existing Solutions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1554480"/>
            <a:ext cx="95097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n-lt"/>
              </a:rPr>
              <a:t>Background: </a:t>
            </a:r>
            <a:r>
              <a:rPr sz="1500" b="0" i="0">
                <a:solidFill>
                  <a:schemeClr val="tx2"/>
                </a:solidFill>
                <a:latin typeface="+mn-lt"/>
              </a:rPr>
              <a:t>Cities are tightly interconnected systems, yet disruption tools model each service on its own. Our research looked at what responders use today and where it stops.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237744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 spc="200">
                <a:solidFill>
                  <a:schemeClr val="accent1"/>
                </a:solidFill>
                <a:latin typeface="+mn-lt"/>
              </a:rPr>
              <a:t>CURRENT SOLUTION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23360" y="237744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 spc="200">
                <a:solidFill>
                  <a:schemeClr val="accent1"/>
                </a:solidFill>
                <a:latin typeface="+mn-lt"/>
              </a:rPr>
              <a:t>WHAT IT DOES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9480" y="237744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 spc="200">
                <a:solidFill>
                  <a:schemeClr val="accent3"/>
                </a:solidFill>
                <a:latin typeface="+mn-lt"/>
              </a:rPr>
              <a:t>WHAT IT MISSES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2743200"/>
            <a:ext cx="11091672" cy="73152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7240" y="2743200"/>
            <a:ext cx="29260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j-lt"/>
              </a:rPr>
              <a:t>Traffic and navigation apps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23360" y="2743200"/>
            <a:ext cx="2880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chemeClr val="tx2"/>
                </a:solidFill>
                <a:latin typeface="+mn-lt"/>
              </a:rPr>
              <a:t>Report congestion and reroute drivers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9480" y="2743200"/>
            <a:ext cx="42062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chemeClr val="tx2"/>
                </a:solidFill>
                <a:latin typeface="+mn-lt"/>
              </a:rPr>
              <a:t>Cannot see which ambulance or supply route depended on that road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3611880"/>
            <a:ext cx="11091672" cy="73152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77240" y="3611880"/>
            <a:ext cx="29260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j-lt"/>
              </a:rPr>
              <a:t>Hospital management systems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23360" y="3611880"/>
            <a:ext cx="2880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chemeClr val="tx2"/>
                </a:solidFill>
                <a:latin typeface="+mn-lt"/>
              </a:rPr>
              <a:t>Track admissions and bed capacity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69480" y="3611880"/>
            <a:ext cx="42062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chemeClr val="tx2"/>
                </a:solidFill>
                <a:latin typeface="+mn-lt"/>
              </a:rPr>
              <a:t>Work in isolation; overload is visible only once patients arrive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4480560"/>
            <a:ext cx="11091672" cy="73152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77240" y="4480560"/>
            <a:ext cx="292608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j-lt"/>
              </a:rPr>
              <a:t>Disaster-mapping and GIS tools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23360" y="4480560"/>
            <a:ext cx="2880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chemeClr val="tx2"/>
                </a:solidFill>
                <a:latin typeface="+mn-lt"/>
              </a:rPr>
              <a:t>Assess damage and map the affected area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9480" y="4480560"/>
            <a:ext cx="420624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chemeClr val="tx2"/>
                </a:solidFill>
                <a:latin typeface="+mn-lt"/>
              </a:rPr>
              <a:t>Stop at first-order damage; no prediction of downstream effects</a:t>
            </a:r>
          </a:p>
        </p:txBody>
      </p:sp>
      <p:sp>
        <p:nvSpPr>
          <p:cNvPr id="42" name="Gap banner"/>
          <p:cNvSpPr/>
          <p:nvPr/>
        </p:nvSpPr>
        <p:spPr>
          <a:xfrm>
            <a:off x="548640" y="5440680"/>
            <a:ext cx="11091672" cy="68580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77240" y="5440680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chemeClr val="accent5"/>
                </a:solidFill>
                <a:latin typeface="+mn-lt"/>
              </a:rPr>
              <a:t>Identified gap: </a:t>
            </a:r>
            <a:r>
              <a:rPr sz="1500" b="0" i="0">
                <a:solidFill>
                  <a:schemeClr val="bg1"/>
                </a:solidFill>
                <a:latin typeface="+mn-lt"/>
              </a:rPr>
              <a:t>no cross-domain model treats the city as one system and asks what happens two and three steps downstream.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chemeClr val="accent1"/>
                </a:solidFill>
              </a:rPr>
              <a:t>04  ·  PROPOSED SOLUTION</a:t>
            </a: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2" hasCustomPrompt="1"/>
          </p:nvPr>
        </p:nvSpPr>
        <p:spPr>
          <a:xfrm>
            <a:off x="548640" y="676656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1"/>
                </a:solidFill>
              </a:rPr>
              <a:t>Proposed Solution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1508760"/>
            <a:ext cx="8961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  <a:latin typeface="+mn-lt"/>
              </a:rPr>
              <a:t>Core idea: </a:t>
            </a:r>
            <a:r>
              <a:rPr sz="1600" b="0" i="0">
                <a:solidFill>
                  <a:schemeClr val="tx2"/>
                </a:solidFill>
                <a:latin typeface="+mn-lt"/>
              </a:rPr>
              <a:t>Ripple takes a disruptive event (found in trusted news or logged by an official) and outputs a ranked, time-ordered map of who is affected next, how badly and how soon.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2240280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 spc="200">
                <a:solidFill>
                  <a:schemeClr val="accent3"/>
                </a:solidFill>
                <a:latin typeface="+mn-lt"/>
              </a:rPr>
              <a:t>EVENT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3442715"/>
            <a:ext cx="1965960" cy="100584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/>
            <a:r>
              <a:rPr sz="1600" b="1" i="0">
                <a:solidFill>
                  <a:schemeClr val="bg1"/>
                </a:solidFill>
                <a:latin typeface="+mj-lt"/>
              </a:rPr>
              <a:t>Bridge collapse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2606040" y="3781044"/>
            <a:ext cx="274319" cy="329184"/>
          </a:xfrm>
          <a:prstGeom prst="rightArrow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971800" y="2240280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 spc="200">
                <a:solidFill>
                  <a:schemeClr val="accent1"/>
                </a:solidFill>
                <a:latin typeface="+mn-lt"/>
              </a:rPr>
              <a:t>FIRST ORDER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971800" y="3442715"/>
            <a:ext cx="1965960" cy="100584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bIns="91440" rtlCol="0" anchor="ctr"/>
          <a:lstStyle/>
          <a:p>
            <a:pPr algn="ctr"/>
            <a:r>
              <a:rPr sz="1600" b="1" i="0">
                <a:solidFill>
                  <a:schemeClr val="bg1"/>
                </a:solidFill>
                <a:latin typeface="+mj-lt"/>
              </a:rPr>
              <a:t>Main road blocked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5029200" y="3781044"/>
            <a:ext cx="274320" cy="329184"/>
          </a:xfrm>
          <a:prstGeom prst="rightArrow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394960" y="224028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 spc="200">
                <a:solidFill>
                  <a:schemeClr val="accent2"/>
                </a:solidFill>
                <a:latin typeface="+mn-lt"/>
              </a:rPr>
              <a:t>SECOND ORDER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94960" y="2606040"/>
            <a:ext cx="2743200" cy="566928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400" b="1" i="0">
                <a:solidFill>
                  <a:schemeClr val="tx1"/>
                </a:solidFill>
                <a:latin typeface="+mn-lt"/>
              </a:rPr>
              <a:t>Ambulance route cut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394960" y="3310128"/>
            <a:ext cx="2743200" cy="566928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400" b="1" i="0">
                <a:solidFill>
                  <a:schemeClr val="tx1"/>
                </a:solidFill>
                <a:latin typeface="+mn-lt"/>
              </a:rPr>
              <a:t>School-bus path lost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394960" y="4014216"/>
            <a:ext cx="2743200" cy="566928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400" b="1" i="0">
                <a:solidFill>
                  <a:schemeClr val="tx1"/>
                </a:solidFill>
                <a:latin typeface="+mn-lt"/>
              </a:rPr>
              <a:t>Medicine supply line delayed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394960" y="4718304"/>
            <a:ext cx="2743200" cy="566928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chemeClr val="accent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400" b="1" i="0">
                <a:solidFill>
                  <a:schemeClr val="tx1"/>
                </a:solidFill>
                <a:latin typeface="+mn-lt"/>
              </a:rPr>
              <a:t>Commute to work broken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8229600" y="3781044"/>
            <a:ext cx="274320" cy="329184"/>
          </a:xfrm>
          <a:prstGeom prst="rightArrow">
            <a:avLst/>
          </a:prstGeom>
          <a:solidFill>
            <a:schemeClr val="accent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595360" y="2240280"/>
            <a:ext cx="304495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 spc="200">
                <a:solidFill>
                  <a:schemeClr val="accent4"/>
                </a:solidFill>
                <a:latin typeface="+mn-lt"/>
              </a:rPr>
              <a:t>THIRD ORDER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595360" y="2606040"/>
            <a:ext cx="3044952" cy="566928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chemeClr val="accent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400" b="1" i="0">
                <a:solidFill>
                  <a:schemeClr val="tx1"/>
                </a:solidFill>
                <a:latin typeface="+mn-lt"/>
              </a:rPr>
              <a:t>Nearby hospital overloaded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595360" y="3310128"/>
            <a:ext cx="3044952" cy="566928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chemeClr val="accent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400" b="1" i="0">
                <a:solidFill>
                  <a:schemeClr val="tx1"/>
                </a:solidFill>
                <a:latin typeface="+mn-lt"/>
              </a:rPr>
              <a:t>Students miss classes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595360" y="4014216"/>
            <a:ext cx="3044952" cy="566928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chemeClr val="accent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400" b="1" i="0">
                <a:solidFill>
                  <a:schemeClr val="tx1"/>
                </a:solidFill>
                <a:latin typeface="+mn-lt"/>
              </a:rPr>
              <a:t>Elderly miss medicines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595360" y="4718304"/>
            <a:ext cx="3044952" cy="566928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9050">
            <a:solidFill>
              <a:schemeClr val="accent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400" b="1" i="0">
                <a:solidFill>
                  <a:schemeClr val="tx1"/>
                </a:solidFill>
                <a:latin typeface="+mn-lt"/>
              </a:rPr>
              <a:t>Daily-wage income lost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5486400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chemeClr val="tx1"/>
                </a:solidFill>
                <a:latin typeface="+mn-lt"/>
              </a:rPr>
              <a:t>How it addresses the problem: </a:t>
            </a:r>
            <a:r>
              <a:rPr sz="1400" b="0" i="0">
                <a:solidFill>
                  <a:schemeClr val="tx2"/>
                </a:solidFill>
                <a:latin typeface="+mn-lt"/>
              </a:rPr>
              <a:t>response becomes preventive: officials see the cascade before it lands, and citizens get a plain answer to “Is my area affected, and what do I do?”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chemeClr val="accent1"/>
                </a:solidFill>
              </a:rPr>
              <a:t>05  ·  KEY FEATURES &amp; INNOVATION</a:t>
            </a: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2" hasCustomPrompt="1"/>
          </p:nvPr>
        </p:nvSpPr>
        <p:spPr>
          <a:xfrm>
            <a:off x="548640" y="676656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1"/>
                </a:solidFill>
              </a:rPr>
              <a:t>Key Features &amp; Innovation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1508760"/>
            <a:ext cx="9509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1">
                <a:solidFill>
                  <a:schemeClr val="accent1"/>
                </a:solidFill>
                <a:latin typeface="+mj-lt"/>
              </a:rPr>
              <a:t>Innovation: we shift crisis response from “map the damage” to “map the consequences”.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2148840"/>
            <a:ext cx="3511296" cy="18288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Oval 27"/>
          <p:cNvSpPr/>
          <p:nvPr/>
        </p:nvSpPr>
        <p:spPr>
          <a:xfrm>
            <a:off x="777240" y="237744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chemeClr val="bg1"/>
                </a:solidFill>
                <a:latin typeface="+mj-lt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19" y="2377440"/>
            <a:ext cx="245973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  <a:latin typeface="+mj-lt"/>
              </a:rPr>
              <a:t>Cross-domain dependency graph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3017520"/>
            <a:ext cx="3054096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chemeClr val="tx2"/>
                </a:solidFill>
                <a:latin typeface="+mn-lt"/>
              </a:rPr>
              <a:t>OpenStreetMap-based roads with hospitals, schools, depots and 11 residential zones in one graph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34255" y="2148840"/>
            <a:ext cx="3511296" cy="18288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Oval 31"/>
          <p:cNvSpPr/>
          <p:nvPr/>
        </p:nvSpPr>
        <p:spPr>
          <a:xfrm>
            <a:off x="4562855" y="237744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chemeClr val="bg1"/>
                </a:solidFill>
                <a:latin typeface="+mj-lt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02936" y="2377440"/>
            <a:ext cx="245973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  <a:latin typeface="+mj-lt"/>
              </a:rPr>
              <a:t>Cascade engine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62855" y="3017520"/>
            <a:ext cx="3054096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chemeClr val="tx2"/>
                </a:solidFill>
                <a:latin typeface="+mn-lt"/>
              </a:rPr>
              <a:t>Re-routes on the damaged road graph and compares with normal, finding who is hit next in ~2 ms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19871" y="2148840"/>
            <a:ext cx="3511296" cy="18288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Oval 35"/>
          <p:cNvSpPr/>
          <p:nvPr/>
        </p:nvSpPr>
        <p:spPr>
          <a:xfrm>
            <a:off x="8348471" y="237744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chemeClr val="bg1"/>
                </a:solidFill>
                <a:latin typeface="+mj-lt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88551" y="2377440"/>
            <a:ext cx="245973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  <a:latin typeface="+mj-lt"/>
              </a:rPr>
              <a:t>Vulnerability-weighted scoring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48471" y="3017520"/>
            <a:ext cx="3054096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chemeClr val="tx2"/>
                </a:solidFill>
                <a:latin typeface="+mn-lt"/>
              </a:rPr>
              <a:t>Ranks impacts by severity, people reached, how vulnerable they are and how soon they land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4160520"/>
            <a:ext cx="3511296" cy="18288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Oval 39"/>
          <p:cNvSpPr/>
          <p:nvPr/>
        </p:nvSpPr>
        <p:spPr>
          <a:xfrm>
            <a:off x="777240" y="438912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chemeClr val="bg1"/>
                </a:solidFill>
                <a:latin typeface="+mj-lt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17319" y="4389120"/>
            <a:ext cx="245973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  <a:latin typeface="+mj-lt"/>
              </a:rPr>
              <a:t>Verified news monitoring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" y="5029200"/>
            <a:ext cx="3054096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chemeClr val="tx2"/>
                </a:solidFill>
                <a:latin typeface="+mn-lt"/>
              </a:rPr>
              <a:t>Scans news every 15 min; checks source trust, corroboration and an AI check before an official approves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334255" y="4160520"/>
            <a:ext cx="3511296" cy="18288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Oval 43"/>
          <p:cNvSpPr/>
          <p:nvPr/>
        </p:nvSpPr>
        <p:spPr>
          <a:xfrm>
            <a:off x="4562855" y="438912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chemeClr val="bg1"/>
                </a:solidFill>
                <a:latin typeface="+mj-lt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02936" y="4389120"/>
            <a:ext cx="245973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  <a:latin typeface="+mj-lt"/>
              </a:rPr>
              <a:t>Three dashboards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62855" y="5029200"/>
            <a:ext cx="3054096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chemeClr val="tx2"/>
                </a:solidFill>
                <a:latin typeface="+mn-lt"/>
              </a:rPr>
              <a:t>Officials verify and act, citizens get plain alerts with steps and numbers to call, responders train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19871" y="4160520"/>
            <a:ext cx="3511296" cy="18288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" name="Oval 47"/>
          <p:cNvSpPr/>
          <p:nvPr/>
        </p:nvSpPr>
        <p:spPr>
          <a:xfrm>
            <a:off x="8348471" y="4389120"/>
            <a:ext cx="502920" cy="50292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600" b="1" i="0">
                <a:solidFill>
                  <a:schemeClr val="bg1"/>
                </a:solidFill>
                <a:latin typeface="+mj-lt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88551" y="4389120"/>
            <a:ext cx="245973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 i="0">
                <a:solidFill>
                  <a:schemeClr val="tx1"/>
                </a:solidFill>
                <a:latin typeface="+mj-lt"/>
              </a:rPr>
              <a:t>Learns from outcomes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48471" y="5029200"/>
            <a:ext cx="3054096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chemeClr val="tx2"/>
                </a:solidFill>
                <a:latin typeface="+mn-lt"/>
              </a:rPr>
              <a:t>After-action reports re-weight each type of prediction; public feedback is logged for training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chemeClr val="accent1"/>
                </a:solidFill>
              </a:rPr>
              <a:t>06  ·  PROPOSED WORKFLOW</a:t>
            </a: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2" hasCustomPrompt="1"/>
          </p:nvPr>
        </p:nvSpPr>
        <p:spPr>
          <a:xfrm>
            <a:off x="548640" y="676656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1"/>
                </a:solidFill>
              </a:rPr>
              <a:t>Proposed Workflow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1508760"/>
            <a:ext cx="110642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 spc="200">
                <a:solidFill>
                  <a:schemeClr val="accent1"/>
                </a:solidFill>
                <a:latin typeface="+mn-lt"/>
              </a:rPr>
              <a:t>WORKING MECHANISM · FIVE-STAGE PIPELINE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1874519"/>
            <a:ext cx="1984248" cy="242316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Oval 27"/>
          <p:cNvSpPr/>
          <p:nvPr/>
        </p:nvSpPr>
        <p:spPr>
          <a:xfrm>
            <a:off x="731520" y="2057400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 i="0">
                <a:solidFill>
                  <a:schemeClr val="bg1"/>
                </a:solidFill>
                <a:latin typeface="+mj-lt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2606039"/>
            <a:ext cx="1618488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j-lt"/>
              </a:rPr>
              <a:t>Event ingestion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246120"/>
            <a:ext cx="1618488" cy="10058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chemeClr val="tx2"/>
                </a:solidFill>
                <a:latin typeface="+mn-lt"/>
              </a:rPr>
              <a:t>Found in trusted news every 15 min, or logged by an official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2569464" y="2976372"/>
            <a:ext cx="219456" cy="219456"/>
          </a:xfrm>
          <a:prstGeom prst="rightArrow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2825496" y="1874519"/>
            <a:ext cx="1984248" cy="242316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Oval 32"/>
          <p:cNvSpPr/>
          <p:nvPr/>
        </p:nvSpPr>
        <p:spPr>
          <a:xfrm>
            <a:off x="3008376" y="2057400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 i="0">
                <a:solidFill>
                  <a:schemeClr val="bg1"/>
                </a:solidFill>
                <a:latin typeface="+mj-lt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08376" y="2606039"/>
            <a:ext cx="1618488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j-lt"/>
              </a:rPr>
              <a:t>Dependency graph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08376" y="3246120"/>
            <a:ext cx="1618488" cy="10058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chemeClr val="tx2"/>
                </a:solidFill>
                <a:latin typeface="+mn-lt"/>
              </a:rPr>
              <a:t>OpenStreetMap locations and OSRM road travel times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4846320" y="2976372"/>
            <a:ext cx="219456" cy="219456"/>
          </a:xfrm>
          <a:prstGeom prst="rightArrow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5102351" y="1874519"/>
            <a:ext cx="1984248" cy="242316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Oval 37"/>
          <p:cNvSpPr/>
          <p:nvPr/>
        </p:nvSpPr>
        <p:spPr>
          <a:xfrm>
            <a:off x="5285231" y="2057400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 i="0">
                <a:solidFill>
                  <a:schemeClr val="bg1"/>
                </a:solidFill>
                <a:latin typeface="+mj-lt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85231" y="2606039"/>
            <a:ext cx="1618488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chemeClr val="bg1"/>
                </a:solidFill>
                <a:latin typeface="+mj-lt"/>
              </a:rPr>
              <a:t>Cascade engine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85231" y="3246120"/>
            <a:ext cx="1618488" cy="10058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chemeClr val="bg1"/>
                </a:solidFill>
                <a:latin typeface="+mn-lt"/>
              </a:rPr>
              <a:t>Cuts or slows roads, reroutes, finds who is hit next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7123175" y="2976372"/>
            <a:ext cx="219456" cy="219456"/>
          </a:xfrm>
          <a:prstGeom prst="rightArrow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7379207" y="1874519"/>
            <a:ext cx="1984248" cy="242316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Oval 42"/>
          <p:cNvSpPr/>
          <p:nvPr/>
        </p:nvSpPr>
        <p:spPr>
          <a:xfrm>
            <a:off x="7562087" y="2057400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 i="0">
                <a:solidFill>
                  <a:schemeClr val="bg1"/>
                </a:solidFill>
                <a:latin typeface="+mj-lt"/>
              </a:rPr>
              <a:t>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62087" y="2606039"/>
            <a:ext cx="1618488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j-lt"/>
              </a:rPr>
              <a:t>Impact scoring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62087" y="3246120"/>
            <a:ext cx="1618488" cy="10058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chemeClr val="tx2"/>
                </a:solidFill>
                <a:latin typeface="+mn-lt"/>
              </a:rPr>
              <a:t>Ranks by severity, reach, vulnerability and timing</a:t>
            </a:r>
          </a:p>
        </p:txBody>
      </p:sp>
      <p:sp>
        <p:nvSpPr>
          <p:cNvPr id="46" name="Right Arrow 45"/>
          <p:cNvSpPr/>
          <p:nvPr/>
        </p:nvSpPr>
        <p:spPr>
          <a:xfrm>
            <a:off x="9400031" y="2976372"/>
            <a:ext cx="219456" cy="219456"/>
          </a:xfrm>
          <a:prstGeom prst="rightArrow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9656063" y="1874519"/>
            <a:ext cx="1984248" cy="242316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" name="Oval 47"/>
          <p:cNvSpPr/>
          <p:nvPr/>
        </p:nvSpPr>
        <p:spPr>
          <a:xfrm>
            <a:off x="9838943" y="2057400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 i="0">
                <a:solidFill>
                  <a:schemeClr val="bg1"/>
                </a:solidFill>
                <a:latin typeface="+mj-lt"/>
              </a:rPr>
              <a:t>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38943" y="2606039"/>
            <a:ext cx="1618488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chemeClr val="tx1"/>
                </a:solidFill>
                <a:latin typeface="+mj-lt"/>
              </a:rPr>
              <a:t>Alert dashboard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838943" y="3246120"/>
            <a:ext cx="1618488" cy="10058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chemeClr val="tx2"/>
                </a:solidFill>
                <a:latin typeface="+mn-lt"/>
              </a:rPr>
              <a:t>Officials act; citizens get plain alerts and steps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48640" y="4434840"/>
            <a:ext cx="11091672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 i="0">
                <a:solidFill>
                  <a:schemeClr val="accent1"/>
                </a:solidFill>
                <a:latin typeface="+mn-lt"/>
              </a:rPr>
              <a:t>↺  Feedback loop: after-action reports re-weight the scoring and become drills; public feedback is logged for training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5029200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 spc="200">
                <a:solidFill>
                  <a:schemeClr val="accent1"/>
                </a:solidFill>
                <a:latin typeface="+mn-lt"/>
              </a:rPr>
              <a:t>USER JOURNEY · NEWS → OFFICIAL → CITIZEN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48640" y="5349240"/>
            <a:ext cx="2567178" cy="59436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400" b="1" i="0">
                <a:solidFill>
                  <a:schemeClr val="bg1"/>
                </a:solidFill>
                <a:latin typeface="+mn-lt"/>
              </a:rPr>
              <a:t>News scan flags a bridge collapse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390138" y="5349240"/>
            <a:ext cx="2567178" cy="5943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400" b="1" i="0">
                <a:solidFill>
                  <a:schemeClr val="tx1"/>
                </a:solidFill>
                <a:latin typeface="+mn-lt"/>
              </a:rPr>
              <a:t>Official verifies, sets gravity and time to fix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231636" y="5349240"/>
            <a:ext cx="2567178" cy="5943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400" b="1" i="0">
                <a:solidFill>
                  <a:schemeClr val="tx1"/>
                </a:solidFill>
                <a:latin typeface="+mn-lt"/>
              </a:rPr>
              <a:t>Citizens see “Is my area affected?”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073134" y="5349240"/>
            <a:ext cx="2567178" cy="59436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accent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73152" rIns="73152" bIns="73152" rtlCol="0" anchor="ctr"/>
          <a:lstStyle/>
          <a:p>
            <a:pPr algn="ctr"/>
            <a:r>
              <a:rPr sz="1400" b="1" i="0">
                <a:solidFill>
                  <a:schemeClr val="tx1"/>
                </a:solidFill>
                <a:latin typeface="+mn-lt"/>
              </a:rPr>
              <a:t>After-action report improves the next prediction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chemeClr val="accent1"/>
                </a:solidFill>
              </a:rPr>
              <a:t>07  ·  PROPOSED TECH STACK</a:t>
            </a: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2" hasCustomPrompt="1"/>
          </p:nvPr>
        </p:nvSpPr>
        <p:spPr>
          <a:xfrm>
            <a:off x="548640" y="676656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1"/>
                </a:solidFill>
              </a:rPr>
              <a:t>Proposed Tech Stack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sp>
        <p:nvSpPr>
          <p:cNvPr id="26" name="Rounded Rectangle 25"/>
          <p:cNvSpPr/>
          <p:nvPr/>
        </p:nvSpPr>
        <p:spPr>
          <a:xfrm>
            <a:off x="548640" y="1645920"/>
            <a:ext cx="2020824" cy="361188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Oval 26"/>
          <p:cNvSpPr/>
          <p:nvPr/>
        </p:nvSpPr>
        <p:spPr>
          <a:xfrm>
            <a:off x="1170431" y="1920240"/>
            <a:ext cx="777240" cy="77724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 i="0">
                <a:solidFill>
                  <a:schemeClr val="bg1"/>
                </a:solidFill>
                <a:latin typeface="+mj-lt"/>
              </a:rPr>
              <a:t>FE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2834640"/>
            <a:ext cx="1746504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1" i="0">
                <a:solidFill>
                  <a:schemeClr val="tx1"/>
                </a:solidFill>
                <a:latin typeface="+mj-lt"/>
              </a:rPr>
              <a:t>Frontend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3383280"/>
            <a:ext cx="1655064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01168" indent="-201168" algn="l">
              <a:spcAft>
                <a:spcPts val="8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400" b="0" i="0">
                <a:solidFill>
                  <a:schemeClr val="tx2"/>
                </a:solidFill>
                <a:latin typeface="+mn-lt"/>
              </a:rPr>
              <a:t>HTML, CSS, JavaScript</a:t>
            </a:r>
          </a:p>
          <a:p>
            <a:pPr marL="201168" indent="-201168" algn="l">
              <a:spcAft>
                <a:spcPts val="8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400" b="0" i="0">
                <a:solidFill>
                  <a:schemeClr val="tx2"/>
                </a:solidFill>
                <a:latin typeface="+mn-lt"/>
              </a:rPr>
              <a:t>Leaflet map layers</a:t>
            </a:r>
          </a:p>
          <a:p>
            <a:pPr marL="201168" indent="-201168" algn="l">
              <a:spcAft>
                <a:spcPts val="8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400" b="0" i="0">
                <a:solidFill>
                  <a:schemeClr val="tx2"/>
                </a:solidFill>
                <a:latin typeface="+mn-lt"/>
              </a:rPr>
              <a:t>OpenStreetMap tiles</a:t>
            </a:r>
          </a:p>
          <a:p>
            <a:pPr marL="201168" indent="-201168" algn="l">
              <a:spcAft>
                <a:spcPts val="8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400" b="0" i="0">
                <a:solidFill>
                  <a:schemeClr val="tx2"/>
                </a:solidFill>
                <a:latin typeface="+mn-lt"/>
              </a:rPr>
              <a:t>Mobile-friendly pages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16352" y="1645920"/>
            <a:ext cx="2020824" cy="361188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Oval 30"/>
          <p:cNvSpPr/>
          <p:nvPr/>
        </p:nvSpPr>
        <p:spPr>
          <a:xfrm>
            <a:off x="3438144" y="1920240"/>
            <a:ext cx="777240" cy="77724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 i="0">
                <a:solidFill>
                  <a:schemeClr val="bg1"/>
                </a:solidFill>
                <a:latin typeface="+mj-lt"/>
              </a:rPr>
              <a:t>BE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53512" y="2834640"/>
            <a:ext cx="1746504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1" i="0">
                <a:solidFill>
                  <a:schemeClr val="tx1"/>
                </a:solidFill>
                <a:latin typeface="+mj-lt"/>
              </a:rPr>
              <a:t>Backend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99232" y="3383280"/>
            <a:ext cx="1655064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01168" indent="-201168" algn="l">
              <a:spcAft>
                <a:spcPts val="8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400" b="0" i="0">
                <a:solidFill>
                  <a:schemeClr val="tx2"/>
                </a:solidFill>
                <a:latin typeface="+mn-lt"/>
              </a:rPr>
              <a:t>Python 3.12</a:t>
            </a:r>
          </a:p>
          <a:p>
            <a:pPr marL="201168" indent="-201168" algn="l">
              <a:spcAft>
                <a:spcPts val="8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400" b="0" i="0">
                <a:solidFill>
                  <a:schemeClr val="tx2"/>
                </a:solidFill>
                <a:latin typeface="+mn-lt"/>
              </a:rPr>
              <a:t>FastAPI + Uvicorn</a:t>
            </a:r>
          </a:p>
          <a:p>
            <a:pPr marL="201168" indent="-201168" algn="l">
              <a:spcAft>
                <a:spcPts val="8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400" b="0" i="0">
                <a:solidFill>
                  <a:schemeClr val="tx2"/>
                </a:solidFill>
                <a:latin typeface="+mn-lt"/>
              </a:rPr>
              <a:t>NetworkX cascade engine</a:t>
            </a:r>
          </a:p>
          <a:p>
            <a:pPr marL="201168" indent="-201168" algn="l">
              <a:spcAft>
                <a:spcPts val="8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400" b="0" i="0">
                <a:solidFill>
                  <a:schemeClr val="tx2"/>
                </a:solidFill>
                <a:latin typeface="+mn-lt"/>
              </a:rPr>
              <a:t>Pydantic validation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84064" y="1645920"/>
            <a:ext cx="2020824" cy="361188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Oval 34"/>
          <p:cNvSpPr/>
          <p:nvPr/>
        </p:nvSpPr>
        <p:spPr>
          <a:xfrm>
            <a:off x="5705855" y="1920240"/>
            <a:ext cx="777240" cy="77724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 i="0">
                <a:solidFill>
                  <a:schemeClr val="bg1"/>
                </a:solidFill>
                <a:latin typeface="+mj-lt"/>
              </a:rPr>
              <a:t>DB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21224" y="2834640"/>
            <a:ext cx="1746504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1" i="0">
                <a:solidFill>
                  <a:schemeClr val="tx1"/>
                </a:solidFill>
                <a:latin typeface="+mj-lt"/>
              </a:rPr>
              <a:t>Database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66944" y="3383280"/>
            <a:ext cx="1655064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01168" indent="-201168" algn="l">
              <a:spcAft>
                <a:spcPts val="8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400" b="0" i="0">
                <a:solidFill>
                  <a:schemeClr val="tx2"/>
                </a:solidFill>
                <a:latin typeface="+mn-lt"/>
              </a:rPr>
              <a:t>JSON file store</a:t>
            </a:r>
          </a:p>
          <a:p>
            <a:pPr marL="201168" indent="-201168" algn="l">
              <a:spcAft>
                <a:spcPts val="8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400" b="0" i="0">
                <a:solidFill>
                  <a:schemeClr val="tx2"/>
                </a:solidFill>
                <a:latin typeface="+mn-lt"/>
              </a:rPr>
              <a:t>Incidents, reports, feedback</a:t>
            </a:r>
          </a:p>
          <a:p>
            <a:pPr marL="201168" indent="-201168" algn="l">
              <a:spcAft>
                <a:spcPts val="8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400" b="0" i="0">
                <a:solidFill>
                  <a:schemeClr val="tx2"/>
                </a:solidFill>
                <a:latin typeface="+mn-lt"/>
              </a:rPr>
              <a:t>Cached OSM road data</a:t>
            </a:r>
          </a:p>
          <a:p>
            <a:pPr marL="201168" indent="-201168" algn="l">
              <a:spcAft>
                <a:spcPts val="8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400" b="0" i="0">
                <a:solidFill>
                  <a:schemeClr val="tx2"/>
                </a:solidFill>
                <a:latin typeface="+mn-lt"/>
              </a:rPr>
              <a:t>PostgreSQL + PostGIS next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51775" y="1645920"/>
            <a:ext cx="2020824" cy="361188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Oval 38"/>
          <p:cNvSpPr/>
          <p:nvPr/>
        </p:nvSpPr>
        <p:spPr>
          <a:xfrm>
            <a:off x="7973567" y="1920240"/>
            <a:ext cx="777240" cy="777240"/>
          </a:xfrm>
          <a:prstGeom prst="ellipse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 i="0">
                <a:solidFill>
                  <a:schemeClr val="bg1"/>
                </a:solidFill>
                <a:latin typeface="+mj-lt"/>
              </a:rPr>
              <a:t>AI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88936" y="2834640"/>
            <a:ext cx="1746504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1" i="0">
                <a:solidFill>
                  <a:schemeClr val="tx1"/>
                </a:solidFill>
                <a:latin typeface="+mj-lt"/>
              </a:rPr>
              <a:t>AI / ML Tools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34655" y="3383280"/>
            <a:ext cx="1655064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01168" indent="-201168" algn="l">
              <a:spcAft>
                <a:spcPts val="8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400" b="0" i="0">
                <a:solidFill>
                  <a:schemeClr val="tx2"/>
                </a:solidFill>
                <a:latin typeface="+mn-lt"/>
              </a:rPr>
              <a:t>Local LLM: Ollama + Qwen 2.5</a:t>
            </a:r>
          </a:p>
          <a:p>
            <a:pPr marL="201168" indent="-201168" algn="l">
              <a:spcAft>
                <a:spcPts val="8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400" b="0" i="0">
                <a:solidFill>
                  <a:schemeClr val="tx2"/>
                </a:solidFill>
                <a:latin typeface="+mn-lt"/>
              </a:rPr>
              <a:t>AI news check and briefings</a:t>
            </a:r>
          </a:p>
          <a:p>
            <a:pPr marL="201168" indent="-201168" algn="l">
              <a:spcAft>
                <a:spcPts val="8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400" b="0" i="0">
                <a:solidFill>
                  <a:schemeClr val="tx2"/>
                </a:solidFill>
                <a:latin typeface="+mn-lt"/>
              </a:rPr>
              <a:t>Groq / Gemini / template fallback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619488" y="1645920"/>
            <a:ext cx="2020824" cy="361188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Oval 42"/>
          <p:cNvSpPr/>
          <p:nvPr/>
        </p:nvSpPr>
        <p:spPr>
          <a:xfrm>
            <a:off x="10241280" y="1920240"/>
            <a:ext cx="777240" cy="77724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500" b="1" i="0">
                <a:solidFill>
                  <a:schemeClr val="bg1"/>
                </a:solidFill>
                <a:latin typeface="+mj-lt"/>
              </a:rPr>
              <a:t>API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56648" y="2834640"/>
            <a:ext cx="1746504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1" i="0">
                <a:solidFill>
                  <a:schemeClr val="tx1"/>
                </a:solidFill>
                <a:latin typeface="+mj-lt"/>
              </a:rPr>
              <a:t>APIs &amp; Data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02367" y="3383280"/>
            <a:ext cx="1655064" cy="2468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01168" indent="-201168" algn="l">
              <a:spcAft>
                <a:spcPts val="8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400" b="0" i="0">
                <a:solidFill>
                  <a:schemeClr val="tx2"/>
                </a:solidFill>
                <a:latin typeface="+mn-lt"/>
              </a:rPr>
              <a:t>OSM Nominatim geocoding</a:t>
            </a:r>
          </a:p>
          <a:p>
            <a:pPr marL="201168" indent="-201168" algn="l">
              <a:spcAft>
                <a:spcPts val="8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400" b="0" i="0">
                <a:solidFill>
                  <a:schemeClr val="tx2"/>
                </a:solidFill>
                <a:latin typeface="+mn-lt"/>
              </a:rPr>
              <a:t>OSRM road routing</a:t>
            </a:r>
          </a:p>
          <a:p>
            <a:pPr marL="201168" indent="-201168" algn="l">
              <a:spcAft>
                <a:spcPts val="8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400" b="0" i="0">
                <a:solidFill>
                  <a:schemeClr val="tx2"/>
                </a:solidFill>
                <a:latin typeface="+mn-lt"/>
              </a:rPr>
              <a:t>Google News RSS</a:t>
            </a:r>
          </a:p>
          <a:p>
            <a:pPr marL="201168" indent="-201168" algn="l">
              <a:spcAft>
                <a:spcPts val="800"/>
              </a:spcAft>
              <a:buClr>
                <a:schemeClr val="accent1"/>
              </a:buClr>
              <a:buSzPct val="75000"/>
              <a:buFont typeface="Arial"/>
              <a:buChar char="◆"/>
            </a:pPr>
            <a:r>
              <a:rPr sz="1400" b="0" i="0">
                <a:solidFill>
                  <a:schemeClr val="tx2"/>
                </a:solidFill>
                <a:latin typeface="+mn-lt"/>
              </a:rPr>
              <a:t>Render cloud hosting</a:t>
            </a:r>
          </a:p>
        </p:txBody>
      </p:sp>
      <p:sp>
        <p:nvSpPr>
          <p:cNvPr id="46" name="Stack banner"/>
          <p:cNvSpPr/>
          <p:nvPr/>
        </p:nvSpPr>
        <p:spPr>
          <a:xfrm>
            <a:off x="548640" y="5440680"/>
            <a:ext cx="11091672" cy="59436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77240" y="5440680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chemeClr val="accent5"/>
                </a:solidFill>
                <a:latin typeface="+mn-lt"/>
              </a:rPr>
              <a:t>Why this stack: </a:t>
            </a:r>
            <a:r>
              <a:rPr sz="1500" b="0" i="0">
                <a:solidFill>
                  <a:schemeClr val="bg1"/>
                </a:solidFill>
                <a:latin typeface="+mn-lt"/>
              </a:rPr>
              <a:t>free and open-source, runs on a laptop with a local AI, and is live on a free cloud host.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chemeClr val="accent1"/>
                </a:solidFill>
              </a:rPr>
              <a:t>08  ·  FEASIBILITY &amp; EXECUTION PLAN</a:t>
            </a: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2" hasCustomPrompt="1"/>
          </p:nvPr>
        </p:nvSpPr>
        <p:spPr>
          <a:xfrm>
            <a:off x="548640" y="676656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1"/>
                </a:solidFill>
              </a:rPr>
              <a:t>Feasibility &amp; Execution Plan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1508760"/>
            <a:ext cx="57607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 spc="200">
                <a:solidFill>
                  <a:schemeClr val="accent1"/>
                </a:solidFill>
                <a:latin typeface="+mn-lt"/>
              </a:rPr>
              <a:t>DEVELOPMENT APPROACH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chemeClr val="tx2"/>
                </a:solidFill>
                <a:latin typeface="+mn-lt"/>
              </a:rPr>
              <a:t>Built and live for the Chandigarh tricity: 36 road links timed with real OSRM data, 6 hospitals, 6 schools, 11 zones.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2514600"/>
            <a:ext cx="5760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 spc="200">
                <a:solidFill>
                  <a:schemeClr val="accent1"/>
                </a:solidFill>
                <a:latin typeface="+mn-lt"/>
              </a:rPr>
              <a:t>MILESTONES</a:t>
            </a:r>
          </a:p>
        </p:txBody>
      </p:sp>
      <p:sp>
        <p:nvSpPr>
          <p:cNvPr id="28" name="Oval 27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 i="0">
                <a:solidFill>
                  <a:schemeClr val="bg1"/>
                </a:solidFill>
                <a:latin typeface="+mj-lt"/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2834640"/>
            <a:ext cx="51206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1" i="0">
                <a:solidFill>
                  <a:schemeClr val="tx1"/>
                </a:solidFill>
                <a:latin typeface="+mj-lt"/>
              </a:rPr>
              <a:t>Data and graph</a:t>
            </a:r>
            <a:r>
              <a:rPr sz="1100" b="1" i="0">
                <a:solidFill>
                  <a:schemeClr val="accent1"/>
                </a:solidFill>
                <a:latin typeface="+mn-lt"/>
              </a:rPr>
              <a:t>   Bhavya + Aditya</a:t>
            </a:r>
          </a:p>
          <a:p>
            <a:pPr algn="l"/>
            <a:r>
              <a:rPr sz="1300" b="0" i="0">
                <a:solidFill>
                  <a:schemeClr val="tx2"/>
                </a:solidFill>
                <a:latin typeface="+mn-lt"/>
              </a:rPr>
              <a:t>OSM locations and OSRM road times; build the dependency graph</a:t>
            </a:r>
          </a:p>
        </p:txBody>
      </p:sp>
      <p:sp>
        <p:nvSpPr>
          <p:cNvPr id="30" name="Oval 29"/>
          <p:cNvSpPr/>
          <p:nvPr/>
        </p:nvSpPr>
        <p:spPr>
          <a:xfrm>
            <a:off x="548640" y="3666744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 i="0">
                <a:solidFill>
                  <a:schemeClr val="bg1"/>
                </a:solidFill>
                <a:latin typeface="+mj-lt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" y="3621024"/>
            <a:ext cx="51206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1" i="0">
                <a:solidFill>
                  <a:schemeClr val="tx1"/>
                </a:solidFill>
                <a:latin typeface="+mj-lt"/>
              </a:rPr>
              <a:t>Cascade engine and scoring</a:t>
            </a:r>
            <a:r>
              <a:rPr sz="1100" b="1" i="0">
                <a:solidFill>
                  <a:schemeClr val="accent1"/>
                </a:solidFill>
                <a:latin typeface="+mn-lt"/>
              </a:rPr>
              <a:t>   Aditya</a:t>
            </a:r>
          </a:p>
          <a:p>
            <a:pPr algn="l"/>
            <a:r>
              <a:rPr sz="1300" b="0" i="0">
                <a:solidFill>
                  <a:schemeClr val="tx2"/>
                </a:solidFill>
                <a:latin typeface="+mn-lt"/>
              </a:rPr>
              <a:t>Damaged-graph routing, vulnerability scoring, AI briefings</a:t>
            </a:r>
          </a:p>
        </p:txBody>
      </p:sp>
      <p:sp>
        <p:nvSpPr>
          <p:cNvPr id="32" name="Oval 31"/>
          <p:cNvSpPr/>
          <p:nvPr/>
        </p:nvSpPr>
        <p:spPr>
          <a:xfrm>
            <a:off x="548640" y="4453128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 i="0">
                <a:solidFill>
                  <a:schemeClr val="bg1"/>
                </a:solidFill>
                <a:latin typeface="+mj-lt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4407408"/>
            <a:ext cx="51206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1" i="0">
                <a:solidFill>
                  <a:schemeClr val="tx1"/>
                </a:solidFill>
                <a:latin typeface="+mj-lt"/>
              </a:rPr>
              <a:t>Dashboards and maps</a:t>
            </a:r>
            <a:r>
              <a:rPr sz="1100" b="1" i="0">
                <a:solidFill>
                  <a:schemeClr val="accent1"/>
                </a:solidFill>
                <a:latin typeface="+mn-lt"/>
              </a:rPr>
              <a:t>   Piyush</a:t>
            </a:r>
          </a:p>
          <a:p>
            <a:pPr algn="l"/>
            <a:r>
              <a:rPr sz="1300" b="0" i="0">
                <a:solidFill>
                  <a:schemeClr val="tx2"/>
                </a:solidFill>
                <a:latin typeface="+mn-lt"/>
              </a:rPr>
              <a:t>Control room, citizen page, official console; cloud deploy</a:t>
            </a:r>
          </a:p>
        </p:txBody>
      </p:sp>
      <p:sp>
        <p:nvSpPr>
          <p:cNvPr id="34" name="Oval 33"/>
          <p:cNvSpPr/>
          <p:nvPr/>
        </p:nvSpPr>
        <p:spPr>
          <a:xfrm>
            <a:off x="548640" y="5239512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 i="0">
                <a:solidFill>
                  <a:schemeClr val="bg1"/>
                </a:solidFill>
                <a:latin typeface="+mj-lt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" y="5193792"/>
            <a:ext cx="51206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500" b="1" i="0">
                <a:solidFill>
                  <a:schemeClr val="tx1"/>
                </a:solidFill>
                <a:latin typeface="+mj-lt"/>
              </a:rPr>
              <a:t>News, verification and drills</a:t>
            </a:r>
            <a:r>
              <a:rPr sz="1100" b="1" i="0">
                <a:solidFill>
                  <a:schemeClr val="accent1"/>
                </a:solidFill>
                <a:latin typeface="+mn-lt"/>
              </a:rPr>
              <a:t>   Arnav + Bhavya</a:t>
            </a:r>
          </a:p>
          <a:p>
            <a:pPr algn="l"/>
            <a:r>
              <a:rPr sz="1300" b="0" i="0">
                <a:solidFill>
                  <a:schemeClr val="tx2"/>
                </a:solidFill>
                <a:latin typeface="+mn-lt"/>
              </a:rPr>
              <a:t>News checks, official workflow, real past-disaster drills</a:t>
            </a:r>
          </a:p>
        </p:txBody>
      </p:sp>
      <p:sp>
        <p:nvSpPr>
          <p:cNvPr id="36" name="Challenges card"/>
          <p:cNvSpPr/>
          <p:nvPr/>
        </p:nvSpPr>
        <p:spPr>
          <a:xfrm>
            <a:off x="6675120" y="1554480"/>
            <a:ext cx="4965192" cy="443484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995159" y="1783080"/>
            <a:ext cx="432511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200">
                <a:solidFill>
                  <a:schemeClr val="accent5"/>
                </a:solidFill>
                <a:latin typeface="+mn-lt"/>
              </a:rPr>
              <a:t>TECHNICAL CHALLENGES  →  MITIGATION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5159" y="2194560"/>
            <a:ext cx="432511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chemeClr val="bg1"/>
                </a:solidFill>
                <a:latin typeface="+mj-lt"/>
              </a:rPr>
              <a:t>Fake news and rumours</a:t>
            </a:r>
          </a:p>
          <a:p>
            <a:pPr algn="l"/>
            <a:r>
              <a:rPr sz="1300" b="0" i="0">
                <a:solidFill>
                  <a:schemeClr val="accent5"/>
                </a:solidFill>
                <a:latin typeface="+mn-lt"/>
              </a:rPr>
              <a:t>→ Source tiers, corroboration, AI check, human approval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5159" y="3063239"/>
            <a:ext cx="432511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chemeClr val="bg1"/>
                </a:solidFill>
                <a:latin typeface="+mj-lt"/>
              </a:rPr>
              <a:t>Hidden links missing from data</a:t>
            </a:r>
          </a:p>
          <a:p>
            <a:pPr algn="l"/>
            <a:r>
              <a:rPr sz="1300" b="0" i="0">
                <a:solidFill>
                  <a:schemeClr val="accent5"/>
                </a:solidFill>
                <a:latin typeface="+mn-lt"/>
              </a:rPr>
              <a:t>→ LLM-assisted enumeration plus domain rules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95159" y="3931920"/>
            <a:ext cx="432511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chemeClr val="bg1"/>
                </a:solidFill>
                <a:latin typeface="+mj-lt"/>
              </a:rPr>
              <a:t>Campus Wi-Fi blocked our share link</a:t>
            </a:r>
          </a:p>
          <a:p>
            <a:pPr algn="l"/>
            <a:r>
              <a:rPr sz="1300" b="0" i="0">
                <a:solidFill>
                  <a:schemeClr val="accent5"/>
                </a:solidFill>
                <a:latin typeface="+mn-lt"/>
              </a:rPr>
              <a:t>→ Moved to free cloud hosting on Render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95159" y="4846320"/>
            <a:ext cx="4325112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 spc="200">
                <a:solidFill>
                  <a:schemeClr val="accent5"/>
                </a:solidFill>
                <a:latin typeface="+mn-lt"/>
              </a:rPr>
              <a:t>EXECUTION STRATEGY</a:t>
            </a:r>
          </a:p>
          <a:p>
            <a:pPr algn="l"/>
            <a:r>
              <a:rPr sz="1300" b="0" i="0">
                <a:solidFill>
                  <a:schemeClr val="bg1"/>
                </a:solidFill>
                <a:latin typeface="+mn-lt"/>
              </a:rPr>
              <a:t>Four parallel tracks (engine, data, interface, operations) merged on GitHub, with checkpoints after each milestone.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chemeClr val="accent1"/>
                </a:solidFill>
              </a:rPr>
              <a:t>10  ·  EXPECTED IMPACT &amp; FUTURE SCOPE</a:t>
            </a: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2" hasCustomPrompt="1"/>
          </p:nvPr>
        </p:nvSpPr>
        <p:spPr>
          <a:xfrm>
            <a:off x="548640" y="676656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1"/>
                </a:solidFill>
              </a:rPr>
              <a:t>Expected Impact &amp; Future Scope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1508760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 spc="200">
                <a:solidFill>
                  <a:schemeClr val="accent1"/>
                </a:solidFill>
                <a:latin typeface="+mn-lt"/>
              </a:rPr>
              <a:t>TARGET IMPACT &amp; BENEFITS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1874519"/>
            <a:ext cx="5394960" cy="118872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Oval 27"/>
          <p:cNvSpPr/>
          <p:nvPr/>
        </p:nvSpPr>
        <p:spPr>
          <a:xfrm>
            <a:off x="777240" y="2194560"/>
            <a:ext cx="548640" cy="54864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 i="0">
                <a:solidFill>
                  <a:schemeClr val="bg1"/>
                </a:solidFill>
                <a:latin typeface="+mn-lt"/>
              </a:rPr>
              <a:t>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08760" y="2011679"/>
            <a:ext cx="42976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chemeClr val="tx1"/>
                </a:solidFill>
                <a:latin typeface="+mj-lt"/>
              </a:rPr>
              <a:t>Hours of early warning</a:t>
            </a:r>
          </a:p>
          <a:p>
            <a:pPr algn="l"/>
            <a:r>
              <a:rPr sz="1400" b="0" i="0">
                <a:solidFill>
                  <a:schemeClr val="tx2"/>
                </a:solidFill>
                <a:latin typeface="+mn-lt"/>
              </a:rPr>
              <a:t>Act before ambulances get stuck or hospitals overflow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3246120"/>
            <a:ext cx="5394960" cy="118872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Oval 30"/>
          <p:cNvSpPr/>
          <p:nvPr/>
        </p:nvSpPr>
        <p:spPr>
          <a:xfrm>
            <a:off x="777240" y="3566160"/>
            <a:ext cx="548640" cy="54864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 i="0">
                <a:solidFill>
                  <a:schemeClr val="bg1"/>
                </a:solidFill>
                <a:latin typeface="+mn-lt"/>
              </a:rPr>
              <a:t>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3383279"/>
            <a:ext cx="42976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chemeClr val="tx1"/>
                </a:solidFill>
                <a:latin typeface="+mj-lt"/>
              </a:rPr>
              <a:t>Vulnerable people first</a:t>
            </a:r>
          </a:p>
          <a:p>
            <a:pPr algn="l"/>
            <a:r>
              <a:rPr sz="1400" b="0" i="0">
                <a:solidFill>
                  <a:schemeClr val="tx2"/>
                </a:solidFill>
                <a:latin typeface="+mn-lt"/>
              </a:rPr>
              <a:t>Patients, the elderly and low-income workers are prioritised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4617720"/>
            <a:ext cx="5394960" cy="118872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9525">
            <a:solidFill>
              <a:schemeClr val="accent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Oval 33"/>
          <p:cNvSpPr/>
          <p:nvPr/>
        </p:nvSpPr>
        <p:spPr>
          <a:xfrm>
            <a:off x="777240" y="4937759"/>
            <a:ext cx="548640" cy="54864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 i="0">
                <a:solidFill>
                  <a:schemeClr val="bg1"/>
                </a:solidFill>
                <a:latin typeface="+mn-lt"/>
              </a:rPr>
              <a:t>◆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08760" y="4754880"/>
            <a:ext cx="429768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chemeClr val="tx1"/>
                </a:solidFill>
                <a:latin typeface="+mj-lt"/>
              </a:rPr>
              <a:t>Silos broken down</a:t>
            </a:r>
          </a:p>
          <a:p>
            <a:pPr algn="l"/>
            <a:r>
              <a:rPr sz="1400" b="0" i="0">
                <a:solidFill>
                  <a:schemeClr val="tx2"/>
                </a:solidFill>
                <a:latin typeface="+mn-lt"/>
              </a:rPr>
              <a:t>One shared picture for traffic, health, schools and logistics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1508760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 spc="200">
                <a:solidFill>
                  <a:schemeClr val="accent1"/>
                </a:solidFill>
                <a:latin typeface="+mn-lt"/>
              </a:rPr>
              <a:t>SCALABILITY &amp; FUTURE SCOPE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629400" y="2103120"/>
            <a:ext cx="0" cy="3474720"/>
          </a:xfrm>
          <a:prstGeom prst="line">
            <a:avLst/>
          </a:prstGeom>
          <a:ln w="25400">
            <a:solidFill>
              <a:schemeClr val="accent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6400800" y="1874519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 i="0">
                <a:solidFill>
                  <a:schemeClr val="bg1"/>
                </a:solidFill>
                <a:latin typeface="+mj-lt"/>
              </a:rPr>
              <a:t>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1828799"/>
            <a:ext cx="457200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chemeClr val="tx1"/>
                </a:solidFill>
                <a:latin typeface="+mj-lt"/>
              </a:rPr>
              <a:t>Hackathon MVP · built</a:t>
            </a:r>
          </a:p>
          <a:p>
            <a:pPr algn="l"/>
            <a:r>
              <a:rPr sz="1400" b="0" i="0">
                <a:solidFill>
                  <a:schemeClr val="tx2"/>
                </a:solidFill>
                <a:latin typeface="+mn-lt"/>
              </a:rPr>
              <a:t>Tricity · roads, health, schools, jobs; live online</a:t>
            </a:r>
          </a:p>
        </p:txBody>
      </p:sp>
      <p:sp>
        <p:nvSpPr>
          <p:cNvPr id="40" name="Oval 39"/>
          <p:cNvSpPr/>
          <p:nvPr/>
        </p:nvSpPr>
        <p:spPr>
          <a:xfrm>
            <a:off x="6400800" y="2926079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 i="0">
                <a:solidFill>
                  <a:schemeClr val="bg1"/>
                </a:solidFill>
                <a:latin typeface="+mj-lt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86600" y="2880360"/>
            <a:ext cx="457200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chemeClr val="tx1"/>
                </a:solidFill>
                <a:latin typeface="+mj-lt"/>
              </a:rPr>
              <a:t>City pilot</a:t>
            </a:r>
          </a:p>
          <a:p>
            <a:pPr algn="l"/>
            <a:r>
              <a:rPr sz="1400" b="0" i="0">
                <a:solidFill>
                  <a:schemeClr val="tx2"/>
                </a:solidFill>
                <a:latin typeface="+mn-lt"/>
              </a:rPr>
              <a:t>Live data with one disaster-management cell</a:t>
            </a:r>
          </a:p>
        </p:txBody>
      </p:sp>
      <p:sp>
        <p:nvSpPr>
          <p:cNvPr id="42" name="Oval 41"/>
          <p:cNvSpPr/>
          <p:nvPr/>
        </p:nvSpPr>
        <p:spPr>
          <a:xfrm>
            <a:off x="6400800" y="3977639"/>
            <a:ext cx="457200" cy="457200"/>
          </a:xfrm>
          <a:prstGeom prst="ellips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 i="0">
                <a:solidFill>
                  <a:schemeClr val="bg1"/>
                </a:solidFill>
                <a:latin typeface="+mj-lt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86600" y="3931920"/>
            <a:ext cx="457200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chemeClr val="tx1"/>
                </a:solidFill>
                <a:latin typeface="+mj-lt"/>
              </a:rPr>
              <a:t>Multi-channel</a:t>
            </a:r>
          </a:p>
          <a:p>
            <a:pPr algn="l"/>
            <a:r>
              <a:rPr sz="1400" b="0" i="0">
                <a:solidFill>
                  <a:schemeClr val="tx2"/>
                </a:solidFill>
                <a:latin typeface="+mn-lt"/>
              </a:rPr>
              <a:t>Social media scanning, SMS and WhatsApp alerts</a:t>
            </a:r>
          </a:p>
        </p:txBody>
      </p:sp>
      <p:sp>
        <p:nvSpPr>
          <p:cNvPr id="44" name="Oval 43"/>
          <p:cNvSpPr/>
          <p:nvPr/>
        </p:nvSpPr>
        <p:spPr>
          <a:xfrm>
            <a:off x="6400800" y="5029200"/>
            <a:ext cx="457200" cy="457200"/>
          </a:xfrm>
          <a:prstGeom prst="ellipse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400" b="1" i="0">
                <a:solidFill>
                  <a:schemeClr val="bg1"/>
                </a:solidFill>
                <a:latin typeface="+mj-lt"/>
              </a:rPr>
              <a:t>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6600" y="4983480"/>
            <a:ext cx="457200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chemeClr val="tx1"/>
                </a:solidFill>
                <a:latin typeface="+mj-lt"/>
              </a:rPr>
              <a:t>Learning model</a:t>
            </a:r>
          </a:p>
          <a:p>
            <a:pPr algn="l"/>
            <a:r>
              <a:rPr sz="1400" b="0" i="0">
                <a:solidFill>
                  <a:schemeClr val="tx2"/>
                </a:solidFill>
                <a:latin typeface="+mn-lt"/>
              </a:rPr>
              <a:t>Census and hospital data; ML trained on after-action reports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Warrior" descr="/home/claude/cy/warri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1881" y="1828800"/>
            <a:ext cx="6939951" cy="5029200"/>
          </a:xfrm>
          <a:prstGeom prst="rect">
            <a:avLst/>
          </a:prstGeom>
        </p:spPr>
      </p:pic>
      <p:sp>
        <p:nvSpPr>
          <p:cNvPr id="3" name="Logo badge"/>
          <p:cNvSpPr/>
          <p:nvPr/>
        </p:nvSpPr>
        <p:spPr>
          <a:xfrm>
            <a:off x="640080" y="502920"/>
            <a:ext cx="4133088" cy="1234440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/>
          <a:effectLst>
            <a:outerShdw blurRad="152400" dist="38100" dir="5400000" algn="bl" rotWithShape="0">
              <a:srgbClr val="000000">
                <a:alpha val="4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4" name="Chandigarh University logo" descr="/home/claude/cy/c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790956"/>
            <a:ext cx="1851660" cy="658368"/>
          </a:xfrm>
          <a:prstGeom prst="rect">
            <a:avLst/>
          </a:prstGeom>
        </p:spPr>
      </p:pic>
      <p:sp>
        <p:nvSpPr>
          <p:cNvPr id="5" name="Logo divider"/>
          <p:cNvSpPr/>
          <p:nvPr/>
        </p:nvSpPr>
        <p:spPr>
          <a:xfrm>
            <a:off x="2948940" y="731520"/>
            <a:ext cx="0" cy="777240"/>
          </a:xfrm>
          <a:prstGeom prst="line">
            <a:avLst/>
          </a:prstGeom>
          <a:noFill/>
          <a:ln w="12700">
            <a:solidFill>
              <a:srgbClr val="D0C8C0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6" name="Hackathon logo" descr="/home/claude/cy/logo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7540" y="640080"/>
            <a:ext cx="1367028" cy="960120"/>
          </a:xfrm>
          <a:prstGeom prst="rect">
            <a:avLst/>
          </a:prstGeom>
        </p:spPr>
      </p:pic>
      <p:sp>
        <p:nvSpPr>
          <p:cNvPr id="7" name="Thank you"/>
          <p:cNvSpPr txBox="1"/>
          <p:nvPr/>
        </p:nvSpPr>
        <p:spPr>
          <a:xfrm>
            <a:off x="640080" y="265176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8" name="Closing team line"/>
          <p:cNvSpPr txBox="1"/>
          <p:nvPr/>
        </p:nvSpPr>
        <p:spPr>
          <a:xfrm>
            <a:off x="640080" y="37033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Keep It Simple  ·  Ripple</a:t>
            </a:r>
            <a:endParaRPr lang="en-US" sz="2000" dirty="0"/>
          </a:p>
        </p:txBody>
      </p:sp>
      <p:sp>
        <p:nvSpPr>
          <p:cNvPr id="9" name="Closing footer"/>
          <p:cNvSpPr txBox="1"/>
          <p:nvPr/>
        </p:nvSpPr>
        <p:spPr>
          <a:xfrm>
            <a:off x="64008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300" dirty="0">
                <a:solidFill>
                  <a:schemeClr val="accent1"/>
                </a:solidFill>
              </a:rPr>
              <a:t>CODE YUDH HACKATHON  ·  CHANDIGARH UNIVERSITY</a:t>
            </a:r>
            <a:endParaRPr lang="en-US" sz="1100" dirty="0"/>
          </a:p>
        </p:txBody>
      </p:sp>
      <p:sp>
        <p:nvSpPr>
          <p:cNvPr id="90" name="Organiser"/>
          <p:cNvSpPr txBox="1"/>
          <p:nvPr/>
        </p:nvSpPr>
        <p:spPr>
          <a:xfrm>
            <a:off x="640080" y="480060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100" b="1" spc="300" dirty="0">
                <a:solidFill>
                  <a:schemeClr val="accent1"/>
                </a:solidFill>
              </a:rPr>
              <a:t>ORGANISED BY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Department of Computer Science &amp; Engineering</a:t>
            </a:r>
          </a:p>
          <a:p>
            <a:pPr marL="0" indent="0" algn="l">
              <a:spcAft>
                <a:spcPts val="0"/>
              </a:spcAft>
              <a:buNone/>
            </a:pPr>
            <a:r>
              <a:rPr lang="en-US" sz="1400" dirty="0">
                <a:solidFill>
                  <a:schemeClr val="accent5"/>
                </a:solidFill>
              </a:rPr>
              <a:t>Chandigarh University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chemeClr val="accent1"/>
                </a:solidFill>
              </a:rPr>
              <a:t>09  ·  PROTOTYPE &amp; LIVE DEMO</a:t>
            </a:r>
            <a:endParaRPr lang="en-US" sz="1200" dirty="0"/>
          </a:p>
        </p:txBody>
      </p:sp>
      <p:sp>
        <p:nvSpPr>
          <p:cNvPr id="3" name="Text 0"/>
          <p:cNvSpPr>
            <a:spLocks noGrp="1"/>
          </p:cNvSpPr>
          <p:nvPr>
            <p:ph type="title" idx="102" hasCustomPrompt="1"/>
          </p:nvPr>
        </p:nvSpPr>
        <p:spPr>
          <a:xfrm>
            <a:off x="548640" y="676656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tx1"/>
                </a:solidFill>
              </a:rPr>
              <a:t>Prototype &amp; Live Demo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  <p:sp>
        <p:nvSpPr>
          <p:cNvPr id="36" name="Challenges card"/>
          <p:cNvSpPr/>
          <p:nvPr/>
        </p:nvSpPr>
        <p:spPr>
          <a:xfrm>
            <a:off x="6675120" y="1554480"/>
            <a:ext cx="4965192" cy="4434840"/>
          </a:xfrm>
          <a:prstGeom prst="roundRect">
            <a:avLst>
              <a:gd name="adj" fmla="val 8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995159" y="1783080"/>
            <a:ext cx="4325112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spc="200">
                <a:solidFill>
                  <a:schemeClr val="accent5"/>
                </a:solidFill>
                <a:latin typeface="+mn-lt"/>
              </a:rPr>
              <a:t>TRY IT YOURSELF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5159" y="2194560"/>
            <a:ext cx="432511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chemeClr val="bg1"/>
                </a:solidFill>
                <a:latin typeface="+mj-lt"/>
              </a:rPr>
              <a:t>Live demo</a:t>
            </a:r>
          </a:p>
          <a:p>
            <a:pPr algn="l"/>
            <a:r>
              <a:rPr sz="1300" b="0" i="0">
                <a:solidFill>
                  <a:schemeClr val="accent5"/>
                </a:solidFill>
                <a:latin typeface="+mn-lt"/>
                <a:hlinkClick r:id="rIdL1"/>
              </a:rPr>
              <a:t>→ ripple-2vx1.onrender.com/public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5159" y="3063239"/>
            <a:ext cx="432511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chemeClr val="bg1"/>
                </a:solidFill>
                <a:latin typeface="+mj-lt"/>
              </a:rPr>
              <a:t>Source code on GitHub</a:t>
            </a:r>
          </a:p>
          <a:p>
            <a:pPr algn="l"/>
            <a:r>
              <a:rPr sz="1300" b="0" i="0">
                <a:solidFill>
                  <a:schemeClr val="accent5"/>
                </a:solidFill>
                <a:latin typeface="+mn-lt"/>
                <a:hlinkClick r:id="rIdL2"/>
              </a:rPr>
              <a:t>→ github.com/as3601/ripple-second-order-victims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95159" y="3931920"/>
            <a:ext cx="432511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chemeClr val="bg1"/>
                </a:solidFill>
                <a:latin typeface="+mj-lt"/>
              </a:rPr>
              <a:t>Demo tip</a:t>
            </a:r>
          </a:p>
          <a:p>
            <a:pPr algn="l"/>
            <a:r>
              <a:rPr sz="1300" b="0" i="0">
                <a:solidFill>
                  <a:schemeClr val="accent5"/>
                </a:solidFill>
                <a:latin typeface="+mn-lt"/>
              </a:rPr>
              <a:t>→ Pick Manimajra under “Is my area affected?”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95159" y="4846320"/>
            <a:ext cx="4325112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 spc="200">
                <a:solidFill>
                  <a:schemeClr val="accent5"/>
                </a:solidFill>
                <a:latin typeface="+mn-lt"/>
              </a:rPr>
              <a:t>GOOD TO KNOW</a:t>
            </a:r>
          </a:p>
          <a:p>
            <a:pPr algn="l"/>
            <a:r>
              <a:rPr sz="1300" b="0" i="0">
                <a:solidFill>
                  <a:schemeClr val="bg1"/>
                </a:solidFill>
                <a:latin typeface="+mn-lt"/>
              </a:rPr>
              <a:t>Free hosting sleeps when idle: the first visit can take about a minute. Demo incidents are labelled SIMULATED.</a:t>
            </a:r>
          </a:p>
        </p:txBody>
      </p:sp>
      <p:pic>
        <p:nvPicPr>
          <p:cNvPr id="300" name="Screenshot public" descr="Citizens: “Is my area affected?” with steps and numbers to call"/>
          <p:cNvPicPr>
            <a:picLocks noChangeAspect="1"/>
          </p:cNvPicPr>
          <p:nvPr/>
        </p:nvPicPr>
        <p:blipFill>
          <a:blip r:embed="rIdP0"/>
          <a:stretch>
            <a:fillRect/>
          </a:stretch>
        </p:blipFill>
        <p:spPr>
          <a:xfrm>
            <a:off x="548640" y="1554480"/>
            <a:ext cx="2834240" cy="1771400"/>
          </a:xfrm>
          <a:prstGeom prst="rect">
            <a:avLst/>
          </a:prstGeom>
          <a:ln w="12700">
            <a:solidFill>
              <a:schemeClr val="accent5"/>
            </a:solidFill>
          </a:ln>
        </p:spPr>
      </p:pic>
      <p:sp>
        <p:nvSpPr>
          <p:cNvPr id="301" name="Caption public"/>
          <p:cNvSpPr txBox="1"/>
          <p:nvPr/>
        </p:nvSpPr>
        <p:spPr>
          <a:xfrm>
            <a:off x="548640" y="3389888"/>
            <a:ext cx="283424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000" b="0" i="0">
                <a:solidFill>
                  <a:schemeClr val="tx2"/>
                </a:solidFill>
                <a:latin typeface="+mn-lt"/>
              </a:rPr>
              <a:t>Citizens: “Is my area affected?” with steps and numbers to call</a:t>
            </a:r>
          </a:p>
        </p:txBody>
      </p:sp>
      <p:pic>
        <p:nvPicPr>
          <p:cNvPr id="302" name="Screenshot dashboard" descr="Control room: cascade map, ranked alerts, AI briefing"/>
          <p:cNvPicPr>
            <a:picLocks noChangeAspect="1"/>
          </p:cNvPicPr>
          <p:nvPr/>
        </p:nvPicPr>
        <p:blipFill>
          <a:blip r:embed="rIdP1"/>
          <a:stretch>
            <a:fillRect/>
          </a:stretch>
        </p:blipFill>
        <p:spPr>
          <a:xfrm>
            <a:off x="3565760" y="1554480"/>
            <a:ext cx="2834240" cy="1771400"/>
          </a:xfrm>
          <a:prstGeom prst="rect">
            <a:avLst/>
          </a:prstGeom>
          <a:ln w="12700">
            <a:solidFill>
              <a:schemeClr val="accent5"/>
            </a:solidFill>
          </a:ln>
        </p:spPr>
      </p:pic>
      <p:sp>
        <p:nvSpPr>
          <p:cNvPr id="303" name="Caption dashboard"/>
          <p:cNvSpPr txBox="1"/>
          <p:nvPr/>
        </p:nvSpPr>
        <p:spPr>
          <a:xfrm>
            <a:off x="3565760" y="3389888"/>
            <a:ext cx="283424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000" b="0" i="0">
                <a:solidFill>
                  <a:schemeClr val="tx2"/>
                </a:solidFill>
                <a:latin typeface="+mn-lt"/>
              </a:rPr>
              <a:t>Control room: cascade map, ranked alerts, AI briefing</a:t>
            </a:r>
          </a:p>
        </p:txBody>
      </p:sp>
      <p:pic>
        <p:nvPicPr>
          <p:cNvPr id="304" name="Screenshot official" descr="Officials: news inbox with trust scores; the fake post scores Low"/>
          <p:cNvPicPr>
            <a:picLocks noChangeAspect="1"/>
          </p:cNvPicPr>
          <p:nvPr/>
        </p:nvPicPr>
        <p:blipFill>
          <a:blip r:embed="rIdP2"/>
          <a:stretch>
            <a:fillRect/>
          </a:stretch>
        </p:blipFill>
        <p:spPr>
          <a:xfrm>
            <a:off x="548640" y="3749040"/>
            <a:ext cx="2834240" cy="1771400"/>
          </a:xfrm>
          <a:prstGeom prst="rect">
            <a:avLst/>
          </a:prstGeom>
          <a:ln w="12700">
            <a:solidFill>
              <a:schemeClr val="accent5"/>
            </a:solidFill>
          </a:ln>
        </p:spPr>
      </p:pic>
      <p:sp>
        <p:nvSpPr>
          <p:cNvPr id="305" name="Caption official"/>
          <p:cNvSpPr txBox="1"/>
          <p:nvPr/>
        </p:nvSpPr>
        <p:spPr>
          <a:xfrm>
            <a:off x="548640" y="5584448"/>
            <a:ext cx="283424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000" b="0" i="0">
                <a:solidFill>
                  <a:schemeClr val="tx2"/>
                </a:solidFill>
                <a:latin typeface="+mn-lt"/>
              </a:rPr>
              <a:t>Officials: news inbox with trust scores; the fake post scores Low</a:t>
            </a:r>
          </a:p>
        </p:txBody>
      </p:sp>
      <p:pic>
        <p:nvPicPr>
          <p:cNvPr id="306" name="Screenshot drills" descr="Drills: replaying the July 2023 tricity floods against the clock"/>
          <p:cNvPicPr>
            <a:picLocks noChangeAspect="1"/>
          </p:cNvPicPr>
          <p:nvPr/>
        </p:nvPicPr>
        <p:blipFill>
          <a:blip r:embed="rIdP3"/>
          <a:stretch>
            <a:fillRect/>
          </a:stretch>
        </p:blipFill>
        <p:spPr>
          <a:xfrm>
            <a:off x="3565760" y="3749040"/>
            <a:ext cx="2834240" cy="1771400"/>
          </a:xfrm>
          <a:prstGeom prst="rect">
            <a:avLst/>
          </a:prstGeom>
          <a:ln w="12700">
            <a:solidFill>
              <a:schemeClr val="accent5"/>
            </a:solidFill>
          </a:ln>
        </p:spPr>
      </p:pic>
      <p:sp>
        <p:nvSpPr>
          <p:cNvPr id="307" name="Caption drills"/>
          <p:cNvSpPr txBox="1"/>
          <p:nvPr/>
        </p:nvSpPr>
        <p:spPr>
          <a:xfrm>
            <a:off x="3565760" y="5584448"/>
            <a:ext cx="2834240" cy="32004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algn="l"/>
            <a:r>
              <a:rPr lang="en-US" sz="1000" b="0" i="0">
                <a:solidFill>
                  <a:schemeClr val="tx2"/>
                </a:solidFill>
                <a:latin typeface="+mn-lt"/>
              </a:rPr>
              <a:t>Drills: replaying the July 2023 tricity floods against the clock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de Yudh Ember Brown">
  <a:themeElements>
    <a:clrScheme name="Code Yudh Ember Brown">
      <a:dk1>
        <a:srgbClr val="1E1612"/>
      </a:dk1>
      <a:lt1>
        <a:srgbClr val="FFFFFF"/>
      </a:lt1>
      <a:dk2>
        <a:srgbClr val="4A3B32"/>
      </a:dk2>
      <a:lt2>
        <a:srgbClr val="FFF4E8"/>
      </a:lt2>
      <a:accent1>
        <a:srgbClr val="E0701B"/>
      </a:accent1>
      <a:accent2>
        <a:srgbClr val="C9962B"/>
      </a:accent2>
      <a:accent3>
        <a:srgbClr val="8B2E16"/>
      </a:accent3>
      <a:accent4>
        <a:srgbClr val="5B4636"/>
      </a:accent4>
      <a:accent5>
        <a:srgbClr val="F2C27A"/>
      </a:accent5>
      <a:accent6>
        <a:srgbClr val="2E2420"/>
      </a:accent6>
      <a:hlink>
        <a:srgbClr val="E0701B"/>
      </a:hlink>
      <a:folHlink>
        <a:srgbClr val="8B2E16"/>
      </a:folHlink>
    </a:clrScheme>
    <a:fontScheme name="Code Yudh Ember Brow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1337</Words>
  <Application>Microsoft Office PowerPoint</Application>
  <PresentationFormat>Widescreen</PresentationFormat>
  <Paragraphs>252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Cambria</vt:lpstr>
      <vt:lpstr>Code Yudh Ember Brown</vt:lpstr>
      <vt:lpstr>PowerPoint Presentation</vt:lpstr>
      <vt:lpstr>Team Introduction &amp; Contributions</vt:lpstr>
      <vt:lpstr>Problem Statement</vt:lpstr>
      <vt:lpstr>Problem Context &amp; Existing Solutions</vt:lpstr>
      <vt:lpstr>Proposed Solution</vt:lpstr>
      <vt:lpstr>Key Features &amp; Innovation</vt:lpstr>
      <vt:lpstr>Proposed Workflow</vt:lpstr>
      <vt:lpstr>Proposed Tech Stack</vt:lpstr>
      <vt:lpstr>Feasibility &amp; Execution Plan</vt:lpstr>
      <vt:lpstr>Expected Impact &amp; Future Scope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 Yudh Hackathon - Presentation Template</dc:title>
  <dc:subject>PptxGenJS Presentation</dc:subject>
  <dc:creator>Code Yudh, Chandigarh University</dc:creator>
  <cp:lastModifiedBy>CH GH</cp:lastModifiedBy>
  <cp:revision>4</cp:revision>
  <dcterms:created xsi:type="dcterms:W3CDTF">2026-10-03T04:39:10Z</dcterms:created>
  <dcterms:modified xsi:type="dcterms:W3CDTF">2026-10-12T18:13:28Z</dcterms:modified>
</cp:coreProperties>
</file>