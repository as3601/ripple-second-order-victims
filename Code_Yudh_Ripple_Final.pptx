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8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7744E9C8-D921-EEDF-F7F4-EFE4EC16A701}">
          <p14:sldIdLst>
            <p14:sldId id="256"/>
          </p14:sldIdLst>
        </p14:section>
        <p14:section name="Team Introduction &amp; Contributions" id="{E1B3FA3B-F095-E643-0DD2-AB5A860C0BD3}">
          <p14:sldIdLst>
            <p14:sldId id="265"/>
          </p14:sldIdLst>
        </p14:section>
        <p14:section name="Problem Statement" id="{95BD82FB-7B63-6E40-A6A1-DD3316490E75}">
          <p14:sldIdLst>
            <p14:sldId id="257"/>
          </p14:sldIdLst>
        </p14:section>
        <p14:section name="Problem Context &amp; Existing Solutions" id="{2354F58D-DFC1-AB37-83F6-3818D90C4429}">
          <p14:sldIdLst>
            <p14:sldId id="258"/>
          </p14:sldIdLst>
        </p14:section>
        <p14:section name="Proposed Solution" id="{33DEDAB2-859B-266C-0823-731D57249D1F}">
          <p14:sldIdLst>
            <p14:sldId id="259"/>
          </p14:sldIdLst>
        </p14:section>
        <p14:section name="Key Features &amp; Innovation" id="{B530DF3C-AA47-D1F1-8334-11B1A901C7B2}">
          <p14:sldIdLst>
            <p14:sldId id="260"/>
          </p14:sldIdLst>
        </p14:section>
        <p14:section name="Proposed Workflow" id="{D4291CEB-2768-4F92-A5FD-AB09BD3E5442}">
          <p14:sldIdLst>
            <p14:sldId id="261"/>
          </p14:sldIdLst>
        </p14:section>
        <p14:section name="Proposed Tech Stack" id="{947440C7-662F-6BA2-D23F-043278F9BF53}">
          <p14:sldIdLst>
            <p14:sldId id="262"/>
          </p14:sldIdLst>
        </p14:section>
        <p14:section name="Feasibility &amp; Execution Plan" id="{2B62254E-664D-82CB-488A-113C89C3CD35}">
          <p14:sldIdLst>
            <p14:sldId id="263"/>
          </p14:sldIdLst>
        </p14:section>
        <p14:section name="Expected Impact &amp; Future Scope" id="{2DDF4F52-A1EA-B9D4-C24E-E0362386381B}">
          <p14:sldIdLst>
            <p14:sldId id="264"/>
          </p14:sldIdLst>
        </p14:section>
        <p14:section name="Closing" id="{2F3E9D2C-FC9B-F0DD-E878-19003121750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3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Four-member team with clear ownership: Aditya builds the engine and AI, Bhavya owns research, data and wording, Piyush builds the interface and deployment, Arnav designs the workflow and leads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system today answers the question that matters in the first hours after an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Existing tools are first-order. We shift the question from 'map the damage' to 'map the consequences'.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cascade for one event. The system predicts every column after the first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USP: cross-domain, predictive and vulnerability-aware, with verified news in and plain-language alerts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Sukhna Choe bridge collapse: news scan, official approval, public page, after-action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free: open map data, a free news feed, a local open-source AI and free hosting.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just feasible: it is built, on GitHub and live online at ripple-2vx1.onrender.com.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move resources toward second-order victims before they become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y/warrior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588" y="2468880"/>
            <a:ext cx="6056684" cy="438912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1783080"/>
            <a:ext cx="694944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6" name="Text 0"/>
          <p:cNvSpPr/>
          <p:nvPr/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accent4"/>
                </a:solidFill>
              </a:rPr>
              <a:t>CODE YUDH HACKATHON  ·  DEPARTMENT OF COMPUTER SCIENCE &amp; ENGINEERING  ·  CHANDIGARH UNIVERSITY</a:t>
            </a:r>
            <a:endParaRPr lang="en-US" sz="1000" dirty="0"/>
          </a:p>
        </p:txBody>
      </p:sp>
      <p:pic>
        <p:nvPicPr>
          <p:cNvPr id="7" name="Image 1" descr="/home/claude/cy/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74320"/>
            <a:ext cx="1051560" cy="7406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_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P0" Type="http://schemas.openxmlformats.org/officeDocument/2006/relationships/image" Target="../media/proto_public.jpeg"/><Relationship Id="rIdP1" Type="http://schemas.openxmlformats.org/officeDocument/2006/relationships/image" Target="../media/proto_dashboard.jpeg"/><Relationship Id="rIdP2" Type="http://schemas.openxmlformats.org/officeDocument/2006/relationships/image" Target="../media/proto_official.jpeg"/><Relationship Id="rIdP3" Type="http://schemas.openxmlformats.org/officeDocument/2006/relationships/image" Target="../media/proto_drills.jpeg"/><Relationship Id="rIdL1" Type="http://schemas.openxmlformats.org/officeDocument/2006/relationships/hyperlink" Target="https://ripple-2vx1.onrender.com/public" TargetMode="External"/><Relationship Id="rIdL2" Type="http://schemas.openxmlformats.org/officeDocument/2006/relationships/hyperlink" Target="https://github.com/as3601/ripple-second-order-victi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rrior" descr="/home/claude/cy/war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881" y="1828800"/>
            <a:ext cx="6939951" cy="5029200"/>
          </a:xfrm>
          <a:prstGeom prst="rect">
            <a:avLst/>
          </a:prstGeom>
        </p:spPr>
      </p:pic>
      <p:sp>
        <p:nvSpPr>
          <p:cNvPr id="3" name="Logo badge"/>
          <p:cNvSpPr/>
          <p:nvPr/>
        </p:nvSpPr>
        <p:spPr>
          <a:xfrm>
            <a:off x="640080" y="502920"/>
            <a:ext cx="4133088" cy="12344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Chandigarh University logo" descr="/home/claude/cy/c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790956"/>
            <a:ext cx="1851660" cy="658368"/>
          </a:xfrm>
          <a:prstGeom prst="rect">
            <a:avLst/>
          </a:prstGeom>
        </p:spPr>
      </p:pic>
      <p:sp>
        <p:nvSpPr>
          <p:cNvPr id="5" name="Logo divider"/>
          <p:cNvSpPr/>
          <p:nvPr/>
        </p:nvSpPr>
        <p:spPr>
          <a:xfrm>
            <a:off x="2948940" y="731520"/>
            <a:ext cx="0" cy="777240"/>
          </a:xfrm>
          <a:prstGeom prst="line">
            <a:avLst/>
          </a:prstGeom>
          <a:noFill/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ackathon logo" descr="/home/claude/cy/logo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540" y="640080"/>
            <a:ext cx="1367028" cy="960120"/>
          </a:xfrm>
          <a:prstGeom prst="rect">
            <a:avLst/>
          </a:prstGeom>
        </p:spPr>
      </p:pic>
      <p:sp>
        <p:nvSpPr>
          <p:cNvPr id="7" name="PROJECT NAME label"/>
          <p:cNvSpPr txBox="1"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PROJECT NAME</a:t>
            </a:r>
            <a:endParaRPr lang="en-US" sz="1200" dirty="0"/>
          </a:p>
        </p:txBody>
      </p:sp>
      <p:sp>
        <p:nvSpPr>
          <p:cNvPr id="8" name="PROJECT NAME field"/>
          <p:cNvSpPr txBox="1"/>
          <p:nvPr/>
        </p:nvSpPr>
        <p:spPr>
          <a:xfrm>
            <a:off x="640080" y="2423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D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Second-Order Victims</a:t>
            </a:r>
            <a:endParaRPr lang="en-US" sz="3200" dirty="0"/>
          </a:p>
        </p:txBody>
      </p:sp>
      <p:sp>
        <p:nvSpPr>
          <p:cNvPr id="9" name="TAGLINE label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TAGLINE</a:t>
            </a:r>
            <a:endParaRPr lang="en-US" sz="1200" dirty="0"/>
          </a:p>
        </p:txBody>
      </p:sp>
      <p:sp>
        <p:nvSpPr>
          <p:cNvPr id="10" name="TAGLINE field"/>
          <p:cNvSpPr txBox="1"/>
          <p:nvPr/>
        </p:nvSpPr>
        <p:spPr>
          <a:xfrm>
            <a:off x="64008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6C2"/>
                </a:solidFill>
              </a:rPr>
              <a:t>Ripple: who gets hurt next when disaster strikes</a:t>
            </a:r>
            <a:endParaRPr lang="en-US" sz="1800" dirty="0"/>
          </a:p>
        </p:txBody>
      </p:sp>
      <p:sp>
        <p:nvSpPr>
          <p:cNvPr id="11" name="TEAM NAME label"/>
          <p:cNvSpPr txBox="1"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TEAM NAME</a:t>
            </a:r>
            <a:endParaRPr lang="en-US" sz="1200" dirty="0"/>
          </a:p>
        </p:txBody>
      </p:sp>
      <p:sp>
        <p:nvSpPr>
          <p:cNvPr id="12" name="TEAM NAME field"/>
          <p:cNvSpPr txBox="1"/>
          <p:nvPr/>
        </p:nvSpPr>
        <p:spPr>
          <a:xfrm>
            <a:off x="64008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6C2"/>
                </a:solidFill>
              </a:rPr>
              <a:t>Keep It Simple</a:t>
            </a:r>
            <a:endParaRPr lang="en-US" sz="1800" dirty="0"/>
          </a:p>
        </p:txBody>
      </p:sp>
      <p:sp>
        <p:nvSpPr>
          <p:cNvPr id="13" name="TEAM MEMBERS label"/>
          <p:cNvSpPr txBox="1"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200" b="1" kern="0" spc="300" dirty="0">
                <a:solidFill>
                  <a:schemeClr val="accent1"/>
                </a:solidFill>
              </a:rPr>
              <a:t>TRACK</a:t>
            </a:r>
            <a:endParaRPr lang="en-US" sz="1200" dirty="0"/>
          </a:p>
        </p:txBody>
      </p:sp>
      <p:sp>
        <p:nvSpPr>
          <p:cNvPr id="14" name="TEAM MEMBERS field"/>
          <p:cNvSpPr txBox="1"/>
          <p:nvPr/>
        </p:nvSpPr>
        <p:spPr>
          <a:xfrm>
            <a:off x="640080" y="5212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6C2"/>
                </a:solidFill>
              </a:rPr>
              <a:t>Smart Cities &amp; Disaster Response</a:t>
            </a:r>
            <a:endParaRPr lang="en-US" sz="1800" dirty="0"/>
          </a:p>
        </p:txBody>
      </p:sp>
      <p:sp>
        <p:nvSpPr>
          <p:cNvPr id="90" name="Organiser"/>
          <p:cNvSpPr txBox="1"/>
          <p:nvPr/>
        </p:nvSpPr>
        <p:spPr>
          <a:xfrm>
            <a:off x="640080" y="5760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spc="300" dirty="0">
                <a:solidFill>
                  <a:schemeClr val="accent1"/>
                </a:solidFill>
              </a:rPr>
              <a:t>ORGANISED BY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Department of Computer Science &amp; Engineering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01  ·  TEAM INTRODUCTION &amp; CONTRIBUTIONS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Team Introduction &amp; Contributions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00" name="Card Aditya Sharma"/>
          <p:cNvSpPr/>
          <p:nvPr/>
        </p:nvSpPr>
        <p:spPr>
          <a:xfrm>
            <a:off x="548640" y="1691640"/>
            <a:ext cx="2606040" cy="40690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Initials Aditya Sharma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AS</a:t>
            </a:r>
          </a:p>
        </p:txBody>
      </p:sp>
      <p:sp>
        <p:nvSpPr>
          <p:cNvPr id="202" name="Name Aditya Sharma"/>
          <p:cNvSpPr txBox="1"/>
          <p:nvPr/>
        </p:nvSpPr>
        <p:spPr>
          <a:xfrm>
            <a:off x="1536192" y="1920240"/>
            <a:ext cx="148132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Aditya Sharma</a:t>
            </a:r>
          </a:p>
          <a:p>
            <a:pPr algn="l"/>
            <a:r>
              <a:rPr sz="900" b="1" i="0" spc="50">
                <a:solidFill>
                  <a:schemeClr val="accent1"/>
                </a:solidFill>
                <a:latin typeface="+mn-lt"/>
              </a:rPr>
              <a:t>TECH LEAD · BACKEND</a:t>
            </a:r>
          </a:p>
        </p:txBody>
      </p:sp>
      <p:sp>
        <p:nvSpPr>
          <p:cNvPr id="203" name="Details Aditya Sharma"/>
          <p:cNvSpPr txBox="1"/>
          <p:nvPr/>
        </p:nvSpPr>
        <p:spPr>
          <a:xfrm>
            <a:off x="777240" y="278892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SKILLS</a:t>
            </a:r>
          </a:p>
          <a:p>
            <a:pPr algn="l">
              <a:spcAft>
                <a:spcPts val="1200"/>
              </a:spcAft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Python, FastAPI, NetworkX graph algorithms, local LLMs (Ollama)</a:t>
            </a:r>
          </a:p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RESPONSIBILITIES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Built the cascade engine and impact scoring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Wrote the APIs and AI briefings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Built the learning loop from outcomes</a:t>
            </a:r>
          </a:p>
        </p:txBody>
      </p:sp>
      <p:sp>
        <p:nvSpPr>
          <p:cNvPr id="204" name="Card Bhavya Srivastava"/>
          <p:cNvSpPr/>
          <p:nvPr/>
        </p:nvSpPr>
        <p:spPr>
          <a:xfrm>
            <a:off x="3383280" y="1691640"/>
            <a:ext cx="2606040" cy="40690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5" name="Initials Bhavya Srivastava"/>
          <p:cNvSpPr/>
          <p:nvPr/>
        </p:nvSpPr>
        <p:spPr>
          <a:xfrm>
            <a:off x="3611880" y="19202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BS</a:t>
            </a:r>
          </a:p>
        </p:txBody>
      </p:sp>
      <p:sp>
        <p:nvSpPr>
          <p:cNvPr id="206" name="Name Bhavya Srivastava"/>
          <p:cNvSpPr txBox="1"/>
          <p:nvPr/>
        </p:nvSpPr>
        <p:spPr>
          <a:xfrm>
            <a:off x="4370832" y="1920240"/>
            <a:ext cx="148132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Bhavya Srivastava</a:t>
            </a:r>
          </a:p>
          <a:p>
            <a:pPr algn="l"/>
            <a:r>
              <a:rPr sz="900" b="1" i="0" spc="50">
                <a:solidFill>
                  <a:schemeClr val="accent1"/>
                </a:solidFill>
                <a:latin typeface="+mn-lt"/>
              </a:rPr>
              <a:t>RESEARCH · CONTENT</a:t>
            </a:r>
          </a:p>
        </p:txBody>
      </p:sp>
      <p:sp>
        <p:nvSpPr>
          <p:cNvPr id="207" name="Details Bhavya Srivastava"/>
          <p:cNvSpPr txBox="1"/>
          <p:nvPr/>
        </p:nvSpPr>
        <p:spPr>
          <a:xfrm>
            <a:off x="3611880" y="278892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SKILLS</a:t>
            </a:r>
          </a:p>
          <a:p>
            <a:pPr algn="l">
              <a:spcAft>
                <a:spcPts val="1200"/>
              </a:spcAft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Domain research, OpenStreetMap data, UX writing, documentation</a:t>
            </a:r>
          </a:p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RESPONSIBILITIES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Researched dependencies and past disasters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Sourced map data and wrote the drill cases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Made public alerts plain and trustworthy</a:t>
            </a:r>
          </a:p>
        </p:txBody>
      </p:sp>
      <p:sp>
        <p:nvSpPr>
          <p:cNvPr id="208" name="Card Piyush Kumar"/>
          <p:cNvSpPr/>
          <p:nvPr/>
        </p:nvSpPr>
        <p:spPr>
          <a:xfrm>
            <a:off x="6217920" y="1691640"/>
            <a:ext cx="2606040" cy="40690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9" name="Initials Piyush Kumar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PK</a:t>
            </a:r>
          </a:p>
        </p:txBody>
      </p:sp>
      <p:sp>
        <p:nvSpPr>
          <p:cNvPr id="210" name="Name Piyush Kumar"/>
          <p:cNvSpPr txBox="1"/>
          <p:nvPr/>
        </p:nvSpPr>
        <p:spPr>
          <a:xfrm>
            <a:off x="7205472" y="1920240"/>
            <a:ext cx="148132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Piyush Kumar</a:t>
            </a:r>
          </a:p>
          <a:p>
            <a:pPr algn="l"/>
            <a:r>
              <a:rPr sz="900" b="1" i="0" spc="50">
                <a:solidFill>
                  <a:schemeClr val="accent1"/>
                </a:solidFill>
                <a:latin typeface="+mn-lt"/>
              </a:rPr>
              <a:t>FRONTEND · DEPLOYMENT</a:t>
            </a:r>
          </a:p>
        </p:txBody>
      </p:sp>
      <p:sp>
        <p:nvSpPr>
          <p:cNvPr id="211" name="Details Piyush Kumar"/>
          <p:cNvSpPr txBox="1"/>
          <p:nvPr/>
        </p:nvSpPr>
        <p:spPr>
          <a:xfrm>
            <a:off x="6446520" y="278892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SKILLS</a:t>
            </a:r>
          </a:p>
          <a:p>
            <a:pPr algn="l">
              <a:spcAft>
                <a:spcPts val="1200"/>
              </a:spcAft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JavaScript, HTML/CSS, Leaflet maps, responsive design, cloud hosting</a:t>
            </a:r>
          </a:p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RESPONSIBILITIES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Built the map dashboards and citizen page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Built the official console and drill screens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Deployed Ripple online and tested on phones</a:t>
            </a:r>
          </a:p>
        </p:txBody>
      </p:sp>
      <p:sp>
        <p:nvSpPr>
          <p:cNvPr id="212" name="Card Arnav Baheti"/>
          <p:cNvSpPr/>
          <p:nvPr/>
        </p:nvSpPr>
        <p:spPr>
          <a:xfrm>
            <a:off x="9052560" y="1691640"/>
            <a:ext cx="2606040" cy="40690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3" name="Initials Arnav Baheti"/>
          <p:cNvSpPr/>
          <p:nvPr/>
        </p:nvSpPr>
        <p:spPr>
          <a:xfrm>
            <a:off x="9281160" y="19202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AB</a:t>
            </a:r>
          </a:p>
        </p:txBody>
      </p:sp>
      <p:sp>
        <p:nvSpPr>
          <p:cNvPr id="214" name="Name Arnav Baheti"/>
          <p:cNvSpPr txBox="1"/>
          <p:nvPr/>
        </p:nvSpPr>
        <p:spPr>
          <a:xfrm>
            <a:off x="10040112" y="1920240"/>
            <a:ext cx="148132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Arnav Baheti</a:t>
            </a:r>
          </a:p>
          <a:p>
            <a:pPr algn="l"/>
            <a:r>
              <a:rPr sz="900" b="1" i="0" spc="50">
                <a:solidFill>
                  <a:schemeClr val="accent1"/>
                </a:solidFill>
                <a:latin typeface="+mn-lt"/>
              </a:rPr>
              <a:t>TEAM LEAD · PRODUCT</a:t>
            </a:r>
          </a:p>
        </p:txBody>
      </p:sp>
      <p:sp>
        <p:nvSpPr>
          <p:cNvPr id="215" name="Details Arnav Baheti"/>
          <p:cNvSpPr txBox="1"/>
          <p:nvPr/>
        </p:nvSpPr>
        <p:spPr>
          <a:xfrm>
            <a:off x="9281160" y="278892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SKILLS</a:t>
            </a:r>
          </a:p>
          <a:p>
            <a:pPr algn="l">
              <a:spcAft>
                <a:spcPts val="1200"/>
              </a:spcAft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Planning, product design, integration testing, pitching</a:t>
            </a:r>
          </a:p>
          <a:p>
            <a:pPr algn="l">
              <a:spcAft>
                <a:spcPts val="400"/>
              </a:spcAft>
            </a:pPr>
            <a:r>
              <a:rPr sz="1100" b="1" i="0" spc="200" dirty="0">
                <a:solidFill>
                  <a:schemeClr val="accent1"/>
                </a:solidFill>
                <a:latin typeface="+mn-lt"/>
              </a:rPr>
              <a:t>RESPONSIBILITIES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Designed the news-verification workflow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Coordinated integration and testing</a:t>
            </a:r>
          </a:p>
          <a:p>
            <a:pPr marL="201168" indent="-201168" algn="l">
              <a:spcAft>
                <a:spcPts val="4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300" b="0" i="0" dirty="0">
                <a:solidFill>
                  <a:schemeClr val="tx2"/>
                </a:solidFill>
                <a:latin typeface="+mn-lt"/>
              </a:rPr>
              <a:t>Leads the final pitch and judge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02  ·  PROBLEM STATEMENT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600200"/>
            <a:ext cx="63093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PROBLEM DEFINITION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chemeClr val="tx2"/>
                </a:solidFill>
                <a:latin typeface="+mn-lt"/>
              </a:rPr>
              <a:t>When a bridge collapses, a flood hits or a factory shuts, response focuses on the visible first-order damage: the blocked road or the closed building.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chemeClr val="tx2"/>
                </a:solidFill>
                <a:latin typeface="+mn-lt"/>
              </a:rPr>
              <a:t>Everything that depends on that damage goes unnoticed. A blocked road is also an ambulance route, a school-bus path and a medicine supply line. These second- and third-order effects are found only after they cause harm.</a:t>
            </a:r>
          </a:p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IMPORTANCE OF THE PROBLEM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chemeClr val="tx2"/>
                </a:solidFill>
                <a:latin typeface="+mn-lt"/>
              </a:rPr>
              <a:t>Response is reactive and siloed: traffic, hospitals and schools each manage their own problem without seeing how it is about to become someone else's.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chemeClr val="tx2"/>
                </a:solidFill>
                <a:latin typeface="+mn-lt"/>
              </a:rPr>
              <a:t>The cost falls on the most vulnerable: patients waiting for ambulances, elderly residents relying on medicine delivery, and daily-wage workers cut off from work.</a:t>
            </a:r>
          </a:p>
        </p:txBody>
      </p:sp>
      <p:sp>
        <p:nvSpPr>
          <p:cNvPr id="27" name="Question card"/>
          <p:cNvSpPr/>
          <p:nvPr/>
        </p:nvSpPr>
        <p:spPr>
          <a:xfrm>
            <a:off x="7269480" y="1600200"/>
            <a:ext cx="4370832" cy="438912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1920240"/>
            <a:ext cx="36393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200">
                <a:solidFill>
                  <a:schemeClr val="accent5"/>
                </a:solidFill>
                <a:latin typeface="+mn-lt"/>
              </a:rPr>
              <a:t>THE UNANSWERED QUESTION</a:t>
            </a:r>
          </a:p>
          <a:p>
            <a:pPr algn="l"/>
            <a:r>
              <a:rPr sz="2600" b="1" i="1">
                <a:solidFill>
                  <a:schemeClr val="bg1"/>
                </a:solidFill>
                <a:latin typeface="+mj-lt"/>
              </a:rPr>
              <a:t>“Who will be affected next?”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74720"/>
            <a:ext cx="363931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200">
                <a:solidFill>
                  <a:schemeClr val="accent5"/>
                </a:solidFill>
                <a:latin typeface="+mn-lt"/>
              </a:rPr>
              <a:t>TARGET AUDIENCE</a:t>
            </a:r>
          </a:p>
          <a:p>
            <a:pPr marL="201168" indent="-201168" algn="l">
              <a:spcAft>
                <a:spcPts val="6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bg1"/>
                </a:solidFill>
                <a:latin typeface="+mn-lt"/>
              </a:rPr>
              <a:t>City disaster-management and emergency control rooms</a:t>
            </a:r>
          </a:p>
          <a:p>
            <a:pPr marL="201168" indent="-201168" algn="l">
              <a:spcAft>
                <a:spcPts val="6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bg1"/>
                </a:solidFill>
                <a:latin typeface="+mn-lt"/>
              </a:rPr>
              <a:t>Hospitals and ambulance services</a:t>
            </a:r>
          </a:p>
          <a:p>
            <a:pPr marL="201168" indent="-201168" algn="l">
              <a:spcAft>
                <a:spcPts val="6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bg1"/>
                </a:solidFill>
                <a:latin typeface="+mn-lt"/>
              </a:rPr>
              <a:t>Schools and public-transport operators</a:t>
            </a:r>
          </a:p>
          <a:p>
            <a:pPr marL="201168" indent="-201168" algn="l">
              <a:spcAft>
                <a:spcPts val="6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bg1"/>
                </a:solidFill>
                <a:latin typeface="+mn-lt"/>
              </a:rPr>
              <a:t>Delivery networks, NGOs and city planners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03  ·  PROBLEM CONTEXT &amp; EXISTING SOLUTIONS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Context &amp; Existing Solutions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5448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n-lt"/>
              </a:rPr>
              <a:t>Background: </a:t>
            </a:r>
            <a:r>
              <a:rPr sz="1500" b="0" i="0">
                <a:solidFill>
                  <a:schemeClr val="tx2"/>
                </a:solidFill>
                <a:latin typeface="+mn-lt"/>
              </a:rPr>
              <a:t>Cities are tightly interconnected systems, yet disruption tools model each service on its own. Our research looked at what responders use today and where it stops.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377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CURRENT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377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WHAT IT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377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3"/>
                </a:solidFill>
                <a:latin typeface="+mn-lt"/>
              </a:rPr>
              <a:t>WHAT IT MISSES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743200"/>
            <a:ext cx="11091672" cy="7315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27432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Traffic and navigation apps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74320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Report congestion and reroute drivers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4320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Cannot see which ambulance or supply route depended on that road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611880"/>
            <a:ext cx="11091672" cy="7315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Hospital management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36118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Track admissions and bed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61188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Work in isolation; overload is visible only once patients arrive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80560"/>
            <a:ext cx="11091672" cy="7315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4805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Disaster-mapping and GIS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48056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Assess damage and map the affected area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48056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Stop at first-order damage; no prediction of downstream effects</a:t>
            </a:r>
          </a:p>
        </p:txBody>
      </p:sp>
      <p:sp>
        <p:nvSpPr>
          <p:cNvPr id="42" name="Gap banner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54406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accent5"/>
                </a:solidFill>
                <a:latin typeface="+mn-lt"/>
              </a:rPr>
              <a:t>Identified gap: </a:t>
            </a:r>
            <a:r>
              <a:rPr sz="1500" b="0" i="0">
                <a:solidFill>
                  <a:schemeClr val="bg1"/>
                </a:solidFill>
                <a:latin typeface="+mn-lt"/>
              </a:rPr>
              <a:t>no cross-domain model treats the city as one system and asks what happens two and three steps downstream.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04  ·  PROPOSED SOLUTION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Solution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087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n-lt"/>
              </a:rPr>
              <a:t>Core idea: </a:t>
            </a:r>
            <a:r>
              <a:rPr sz="1600" b="0" i="0">
                <a:solidFill>
                  <a:schemeClr val="tx2"/>
                </a:solidFill>
                <a:latin typeface="+mn-lt"/>
              </a:rPr>
              <a:t>Ripple takes a disruptive event (found in trusted news or logged by an official) and outputs a ranked, time-ordered map of who is affected next, how badly and how soon.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2402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3"/>
                </a:solidFill>
                <a:latin typeface="+mn-lt"/>
              </a:rPr>
              <a:t>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42715"/>
            <a:ext cx="1965960" cy="100584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Bridge collapse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606040" y="3781044"/>
            <a:ext cx="274319" cy="329184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22402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FIRST 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3442715"/>
            <a:ext cx="1965960" cy="10058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Main road blocked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029200" y="3781044"/>
            <a:ext cx="274320" cy="329184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9496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2"/>
                </a:solidFill>
                <a:latin typeface="+mn-lt"/>
              </a:rPr>
              <a:t>SECOND ORDER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2606040"/>
            <a:ext cx="2743200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Ambulance route cut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0" y="3310128"/>
            <a:ext cx="2743200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School-bus path lost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4014216"/>
            <a:ext cx="2743200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Medicine supply line delayed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718304"/>
            <a:ext cx="2743200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Commute to work broken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29600" y="3781044"/>
            <a:ext cx="274320" cy="329184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0" y="224028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4"/>
                </a:solidFill>
                <a:latin typeface="+mn-lt"/>
              </a:rPr>
              <a:t>THIRD ORDER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2606040"/>
            <a:ext cx="3044952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Nearby hospital overloaded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3310128"/>
            <a:ext cx="3044952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Students miss classes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4014216"/>
            <a:ext cx="3044952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Elderly miss medicines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4718304"/>
            <a:ext cx="3044952" cy="56692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Daily-wage income lost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+mn-lt"/>
              </a:rPr>
              <a:t>How it addresses the problem: </a:t>
            </a:r>
            <a:r>
              <a:rPr sz="1400" b="0" i="0">
                <a:solidFill>
                  <a:schemeClr val="tx2"/>
                </a:solidFill>
                <a:latin typeface="+mn-lt"/>
              </a:rPr>
              <a:t>response becomes preventive: officials see the cascade before it lands, and citizens get a plain answer to “Is my area affected, and what do I do?”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 ·  KEY FEATURES &amp; INNOVATION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 &amp; Innovation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0876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1">
                <a:solidFill>
                  <a:schemeClr val="accent1"/>
                </a:solidFill>
                <a:latin typeface="+mj-lt"/>
              </a:rPr>
              <a:t>Innovation: we shift crisis response from “map the damage” to “map the consequences”.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14884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237744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Cross-domain dependency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01752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OpenStreetMap-based roads with hospitals, schools, depots and 11 residential zones in one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214884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62855" y="23774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237744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Cascade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5" y="301752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Re-routes on the damaged road graph and compares with normal, finding who is hit next in ~2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1" y="214884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48471" y="23774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1" y="237744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Vulnerability-weighted 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301752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Ranks impacts by severity, people reached, how vulnerable they are and how soon they land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16052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438912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Verified news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02920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Scans news every 15 min; checks source trust, corroboration and an AI check before an official approves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5" y="416052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4562855" y="43891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2936" y="438912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Three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5" y="502920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Officials verify and act, citizens get plain alerts with steps and numbers to call, responders train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9871" y="4160520"/>
            <a:ext cx="3511296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8348471" y="43891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1" y="4389120"/>
            <a:ext cx="2459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  <a:latin typeface="+mj-lt"/>
              </a:rPr>
              <a:t>Learns from outcomes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1" y="5029200"/>
            <a:ext cx="3054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After-action reports re-weight each type of prediction; public feedback is logged for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06  ·  PROPOSED WORKFLOW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Workflow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WORKING MECHANISM · FIVE-STAGE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874519"/>
            <a:ext cx="1984248" cy="24231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606039"/>
            <a:ext cx="16184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Event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46120"/>
            <a:ext cx="1618488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Found in trusted news every 15 min, or logged by an official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569464" y="2976372"/>
            <a:ext cx="219456" cy="219456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25496" y="1874519"/>
            <a:ext cx="1984248" cy="24231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08376" y="2057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8376" y="2606039"/>
            <a:ext cx="16184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Dependency 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3246120"/>
            <a:ext cx="1618488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OpenStreetMap locations and OSRM road travel times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846320" y="2976372"/>
            <a:ext cx="219456" cy="219456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102351" y="1874519"/>
            <a:ext cx="1984248" cy="242316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5285231" y="2057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1" y="2606039"/>
            <a:ext cx="16184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+mj-lt"/>
              </a:rPr>
              <a:t>Cascade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1" y="3246120"/>
            <a:ext cx="1618488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+mn-lt"/>
              </a:rPr>
              <a:t>Cuts or slows roads, reroutes, finds who is hit next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123175" y="2976372"/>
            <a:ext cx="219456" cy="219456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79207" y="1874519"/>
            <a:ext cx="1984248" cy="24231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62087" y="2057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2087" y="2606039"/>
            <a:ext cx="16184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Impact scoring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7" y="3246120"/>
            <a:ext cx="1618488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Ranks by severity, reach, vulnerability and timing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400031" y="2976372"/>
            <a:ext cx="219456" cy="219456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656063" y="1874519"/>
            <a:ext cx="1984248" cy="24231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38943" y="2057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3" y="2606039"/>
            <a:ext cx="16184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  <a:latin typeface="+mj-lt"/>
              </a:rPr>
              <a:t>Alert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8943" y="3246120"/>
            <a:ext cx="1618488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Officials act; citizens get plain alerts and steps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434840"/>
            <a:ext cx="11091672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chemeClr val="accent1"/>
                </a:solidFill>
                <a:latin typeface="+mn-lt"/>
              </a:rPr>
              <a:t>↺  Feedback loop: after-action reports re-weight the scoring and become drills; public feedback is logged for 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USER JOURNEY · NEWS → OFFICIAL → CITIZEN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49240"/>
            <a:ext cx="2567178" cy="5943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n-lt"/>
              </a:rPr>
              <a:t>News scan flags a bridge collapse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90138" y="5349240"/>
            <a:ext cx="2567178" cy="5943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Official verifies, sets gravity and time to fix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1636" y="5349240"/>
            <a:ext cx="2567178" cy="5943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Citizens see “Is my area affected?”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73134" y="5349240"/>
            <a:ext cx="2567178" cy="5943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chemeClr val="tx1"/>
                </a:solidFill>
                <a:latin typeface="+mn-lt"/>
              </a:rPr>
              <a:t>After-action report improves the next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07  ·  PROPOSED TECH STACK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Tech Stack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45920"/>
            <a:ext cx="2020824" cy="361188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70431" y="1920240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834640"/>
            <a:ext cx="174650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chemeClr val="tx1"/>
                </a:solidFill>
                <a:latin typeface="+mj-lt"/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165506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HTML, CSS, JavaScript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Leaflet map layers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OpenStreetMap tiles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Mobile-friendly pages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1645920"/>
            <a:ext cx="2020824" cy="3611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38144" y="1920240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2834640"/>
            <a:ext cx="174650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chemeClr val="tx1"/>
                </a:solidFill>
                <a:latin typeface="+mj-lt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383280"/>
            <a:ext cx="165506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Python 3.12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FastAPI + Uvicorn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NetworkX cascade engine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Pydantic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1645920"/>
            <a:ext cx="2020824" cy="361188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05855" y="1920240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1224" y="2834640"/>
            <a:ext cx="174650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chemeClr val="tx1"/>
                </a:solidFill>
                <a:latin typeface="+mj-lt"/>
              </a:rPr>
              <a:t>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3383280"/>
            <a:ext cx="165506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JSON file store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Incidents, reports, feedback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Cached OSM road data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PostgreSQL + PostGIS next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1775" y="1645920"/>
            <a:ext cx="2020824" cy="3611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73567" y="1920240"/>
            <a:ext cx="777240" cy="77724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8936" y="2834640"/>
            <a:ext cx="174650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chemeClr val="tx1"/>
                </a:solidFill>
                <a:latin typeface="+mj-lt"/>
              </a:rPr>
              <a:t>AI / ML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4655" y="3383280"/>
            <a:ext cx="165506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Local LLM: Ollama + Qwen 2.5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AI news check and briefings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Groq / Gemini / template fallback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19488" y="1645920"/>
            <a:ext cx="2020824" cy="361188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241280" y="1920240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chemeClr val="bg1"/>
                </a:solidFill>
                <a:latin typeface="+mj-lt"/>
              </a:rPr>
              <a:t>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2834640"/>
            <a:ext cx="174650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chemeClr val="tx1"/>
                </a:solidFill>
                <a:latin typeface="+mj-lt"/>
              </a:rPr>
              <a:t>APIs &amp;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7" y="3383280"/>
            <a:ext cx="165506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OSM Nominatim geocoding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OSRM road routing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Google News RSS</a:t>
            </a:r>
          </a:p>
          <a:p>
            <a:pPr marL="201168" indent="-201168" algn="l">
              <a:spcAft>
                <a:spcPts val="800"/>
              </a:spcAft>
              <a:buClr>
                <a:schemeClr val="accent1"/>
              </a:buClr>
              <a:buSzPct val="75000"/>
              <a:buFont typeface="Arial"/>
              <a:buChar char="◆"/>
            </a:pPr>
            <a:r>
              <a:rPr sz="1400" b="0" i="0">
                <a:solidFill>
                  <a:schemeClr val="tx2"/>
                </a:solidFill>
                <a:latin typeface="+mn-lt"/>
              </a:rPr>
              <a:t>Render cloud hosting</a:t>
            </a:r>
          </a:p>
        </p:txBody>
      </p:sp>
      <p:sp>
        <p:nvSpPr>
          <p:cNvPr id="46" name="Stack banner"/>
          <p:cNvSpPr/>
          <p:nvPr/>
        </p:nvSpPr>
        <p:spPr>
          <a:xfrm>
            <a:off x="548640" y="5440680"/>
            <a:ext cx="11091672" cy="59436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5440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accent5"/>
                </a:solidFill>
                <a:latin typeface="+mn-lt"/>
              </a:rPr>
              <a:t>Why this stack: </a:t>
            </a:r>
            <a:r>
              <a:rPr sz="1500" b="0" i="0">
                <a:solidFill>
                  <a:schemeClr val="bg1"/>
                </a:solidFill>
                <a:latin typeface="+mn-lt"/>
              </a:rPr>
              <a:t>free and open-source, runs on a laptop with a local AI, and is live on a free cloud host.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08  ·  FEASIBILITY &amp; EXECUTION PLAN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 &amp; Execution Plan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0876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DEVELOPMENT APPROACH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2"/>
                </a:solidFill>
                <a:latin typeface="+mn-lt"/>
              </a:rPr>
              <a:t>Built and live for the Chandigarh tricity: 36 road links timed with real OSRM data, 6 hospitals, 6 schools, 11 zones.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5146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MILESTONES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83464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chemeClr val="tx1"/>
                </a:solidFill>
                <a:latin typeface="+mj-lt"/>
              </a:rPr>
              <a:t>Data and graph</a:t>
            </a:r>
            <a:r>
              <a:rPr sz="1100" b="1" i="0">
                <a:solidFill>
                  <a:schemeClr val="accent1"/>
                </a:solidFill>
                <a:latin typeface="+mn-lt"/>
              </a:rPr>
              <a:t>   Bhavya + Aditya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OSM locations and OSRM road times; build the dependency graph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621024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chemeClr val="tx1"/>
                </a:solidFill>
                <a:latin typeface="+mj-lt"/>
              </a:rPr>
              <a:t>Cascade engine and scoring</a:t>
            </a:r>
            <a:r>
              <a:rPr sz="1100" b="1" i="0">
                <a:solidFill>
                  <a:schemeClr val="accent1"/>
                </a:solidFill>
                <a:latin typeface="+mn-lt"/>
              </a:rPr>
              <a:t>   Aditya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Damaged-graph routing, vulnerability scoring, AI briefings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40740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chemeClr val="tx1"/>
                </a:solidFill>
                <a:latin typeface="+mj-lt"/>
              </a:rPr>
              <a:t>Dashboards and maps</a:t>
            </a:r>
            <a:r>
              <a:rPr sz="1100" b="1" i="0">
                <a:solidFill>
                  <a:schemeClr val="accent1"/>
                </a:solidFill>
                <a:latin typeface="+mn-lt"/>
              </a:rPr>
              <a:t>   Piyush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Control room, citizen page, official console; cloud deploy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19379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chemeClr val="tx1"/>
                </a:solidFill>
                <a:latin typeface="+mj-lt"/>
              </a:rPr>
              <a:t>News, verification and drills</a:t>
            </a:r>
            <a:r>
              <a:rPr sz="1100" b="1" i="0">
                <a:solidFill>
                  <a:schemeClr val="accent1"/>
                </a:solidFill>
                <a:latin typeface="+mn-lt"/>
              </a:rPr>
              <a:t>   Arnav + Bhavya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+mn-lt"/>
              </a:rPr>
              <a:t>News checks, official workflow, real past-disaster drills</a:t>
            </a:r>
          </a:p>
        </p:txBody>
      </p:sp>
      <p:sp>
        <p:nvSpPr>
          <p:cNvPr id="36" name="Challenges card"/>
          <p:cNvSpPr/>
          <p:nvPr/>
        </p:nvSpPr>
        <p:spPr>
          <a:xfrm>
            <a:off x="6675120" y="1554480"/>
            <a:ext cx="4965192" cy="443484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1783080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chemeClr val="accent5"/>
                </a:solidFill>
                <a:latin typeface="+mn-lt"/>
              </a:rPr>
              <a:t>TECHNICAL CHALLENGES  →  MITIGATION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2194560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Fake news and rumours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</a:rPr>
              <a:t>→ Source tiers, corroboration, AI check, human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3063239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Hidden links missing from data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</a:rPr>
              <a:t>→ LLM-assisted enumeration plus domain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931920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Campus Wi-Fi blocked our share link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</a:rPr>
              <a:t>→ Moved to free cloud hosting on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4846320"/>
            <a:ext cx="432511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5"/>
                </a:solidFill>
                <a:latin typeface="+mn-lt"/>
              </a:rPr>
              <a:t>EXECUTION STRATEGY</a:t>
            </a:r>
          </a:p>
          <a:p>
            <a:pPr algn="l"/>
            <a:r>
              <a:rPr sz="1300" b="0" i="0">
                <a:solidFill>
                  <a:schemeClr val="bg1"/>
                </a:solidFill>
                <a:latin typeface="+mn-lt"/>
              </a:rPr>
              <a:t>Four parallel tracks (engine, data, interface, operations) merged on GitHub, with checkpoints after each milestone.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10  ·  EXPECTED IMPACT &amp; FUTURE SCOPE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Expected Impact &amp; Future Scope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TARGET IMPACT &amp; BENEFITS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874519"/>
            <a:ext cx="5394960" cy="11887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n-lt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011679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chemeClr val="tx1"/>
                </a:solidFill>
                <a:latin typeface="+mj-lt"/>
              </a:rPr>
              <a:t>Hours of early warning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Act before ambulances get stuck or hospitals overflow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n-lt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383279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chemeClr val="tx1"/>
                </a:solidFill>
                <a:latin typeface="+mj-lt"/>
              </a:rPr>
              <a:t>Vulnerable people first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Patients, the elderly and low-income workers are prioritised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17720"/>
            <a:ext cx="5394960" cy="11887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7240" y="4937759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n-lt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7548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chemeClr val="tx1"/>
                </a:solidFill>
                <a:latin typeface="+mj-lt"/>
              </a:rPr>
              <a:t>Silos broken down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One shared picture for traffic, health, schools and logistics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508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1"/>
                </a:solidFill>
                <a:latin typeface="+mn-lt"/>
              </a:rPr>
              <a:t>SCALABILITY &amp; FUTURE SCOPE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29400" y="2103120"/>
            <a:ext cx="0" cy="347472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400800" y="1874519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1828799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Hackathon MVP · built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Tricity · roads, health, schools, jobs; live online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0" y="2926079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88036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City pilot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Live data with one disaster-management cell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3977639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93192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Multi-channel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Social media scanning, SMS and WhatsApp alerts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98348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chemeClr val="tx1"/>
                </a:solidFill>
                <a:latin typeface="+mj-lt"/>
              </a:rPr>
              <a:t>Learning model</a:t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+mn-lt"/>
              </a:rPr>
              <a:t>Census and hospital data; ML trained on after-action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rrior" descr="/home/claude/cy/war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881" y="1828800"/>
            <a:ext cx="6939951" cy="5029200"/>
          </a:xfrm>
          <a:prstGeom prst="rect">
            <a:avLst/>
          </a:prstGeom>
        </p:spPr>
      </p:pic>
      <p:sp>
        <p:nvSpPr>
          <p:cNvPr id="3" name="Logo badge"/>
          <p:cNvSpPr/>
          <p:nvPr/>
        </p:nvSpPr>
        <p:spPr>
          <a:xfrm>
            <a:off x="640080" y="502920"/>
            <a:ext cx="4133088" cy="12344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Chandigarh University logo" descr="/home/claude/cy/c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790956"/>
            <a:ext cx="1851660" cy="658368"/>
          </a:xfrm>
          <a:prstGeom prst="rect">
            <a:avLst/>
          </a:prstGeom>
        </p:spPr>
      </p:pic>
      <p:sp>
        <p:nvSpPr>
          <p:cNvPr id="5" name="Logo divider"/>
          <p:cNvSpPr/>
          <p:nvPr/>
        </p:nvSpPr>
        <p:spPr>
          <a:xfrm>
            <a:off x="2948940" y="731520"/>
            <a:ext cx="0" cy="777240"/>
          </a:xfrm>
          <a:prstGeom prst="line">
            <a:avLst/>
          </a:prstGeom>
          <a:noFill/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Hackathon logo" descr="/home/claude/cy/logo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540" y="640080"/>
            <a:ext cx="1367028" cy="960120"/>
          </a:xfrm>
          <a:prstGeom prst="rect">
            <a:avLst/>
          </a:prstGeom>
        </p:spPr>
      </p:pic>
      <p:sp>
        <p:nvSpPr>
          <p:cNvPr id="7" name="Thank you"/>
          <p:cNvSpPr txBox="1"/>
          <p:nvPr/>
        </p:nvSpPr>
        <p:spPr>
          <a:xfrm>
            <a:off x="640080" y="2651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Closing team line"/>
          <p:cNvSpPr txBox="1"/>
          <p:nvPr/>
        </p:nvSpPr>
        <p:spPr>
          <a:xfrm>
            <a:off x="64008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Keep It Simple  ·  Ripple</a:t>
            </a:r>
            <a:endParaRPr lang="en-US" sz="2000" dirty="0"/>
          </a:p>
        </p:txBody>
      </p:sp>
      <p:sp>
        <p:nvSpPr>
          <p:cNvPr id="9" name="Closing footer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</a:rPr>
              <a:t>CODE YUDH HACKATHON  ·  CHANDIGARH UNIVERSITY</a:t>
            </a:r>
            <a:endParaRPr lang="en-US" sz="1100" dirty="0"/>
          </a:p>
        </p:txBody>
      </p:sp>
      <p:sp>
        <p:nvSpPr>
          <p:cNvPr id="90" name="Organiser"/>
          <p:cNvSpPr txBox="1"/>
          <p:nvPr/>
        </p:nvSpPr>
        <p:spPr>
          <a:xfrm>
            <a:off x="640080" y="48006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spc="300" dirty="0">
                <a:solidFill>
                  <a:schemeClr val="accent1"/>
                </a:solidFill>
              </a:rPr>
              <a:t>ORGANISED BY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Department of Computer Science &amp; Engineering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09  ·  PROTOTYPE &amp; LIVE DEMO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Prototype &amp; Live Demo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6" name="Challenges card"/>
          <p:cNvSpPr/>
          <p:nvPr/>
        </p:nvSpPr>
        <p:spPr>
          <a:xfrm>
            <a:off x="6675120" y="1554480"/>
            <a:ext cx="4965192" cy="443484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1783080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chemeClr val="accent5"/>
                </a:solidFill>
                <a:latin typeface="+mn-lt"/>
              </a:rPr>
              <a:t>TRY IT YOURSELF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2194560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Live demo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  <a:hlinkClick r:id="rIdL1"/>
              </a:rPr>
              <a:t>→ ripple-2vx1.onrender.com/public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3063239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Source code on GitHub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  <a:hlinkClick r:id="rIdL2"/>
              </a:rPr>
              <a:t>→ github.com/as3601/ripple-second-order-victims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931920"/>
            <a:ext cx="4325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chemeClr val="bg1"/>
                </a:solidFill>
                <a:latin typeface="+mj-lt"/>
              </a:rPr>
              <a:t>Officials’ console access code</a:t>
            </a:r>
          </a:p>
          <a:p>
            <a:pPr algn="l"/>
            <a:r>
              <a:rPr sz="1300" b="0" i="0">
                <a:solidFill>
                  <a:schemeClr val="accent5"/>
                </a:solidFill>
                <a:latin typeface="+mn-lt"/>
              </a:rPr>
              <a:t>→ codeyudh2026  (also shown on the sign-in page)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4846320"/>
            <a:ext cx="432511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spc="200">
                <a:solidFill>
                  <a:schemeClr val="accent5"/>
                </a:solidFill>
                <a:latin typeface="+mn-lt"/>
              </a:rPr>
              <a:t>GOOD TO KNOW</a:t>
            </a:r>
          </a:p>
          <a:p>
            <a:pPr algn="l"/>
            <a:r>
              <a:rPr sz="1300" b="0" i="0">
                <a:solidFill>
                  <a:schemeClr val="bg1"/>
                </a:solidFill>
                <a:latin typeface="+mn-lt"/>
              </a:rPr>
              <a:t>Tip: pick Manimajra under “Is my area affected?”. Free hosting sleeps when idle, so the first visit can take a minute.</a:t>
            </a:r>
          </a:p>
        </p:txBody>
      </p:sp>
      <p:pic>
        <p:nvPicPr>
          <p:cNvPr id="300" name="Screenshot public" descr="Citizens: “Is my area affected?” with steps and numbers to call"/>
          <p:cNvPicPr>
            <a:picLocks noChangeAspect="1"/>
          </p:cNvPicPr>
          <p:nvPr/>
        </p:nvPicPr>
        <p:blipFill>
          <a:blip r:embed="rIdP0"/>
          <a:stretch>
            <a:fillRect/>
          </a:stretch>
        </p:blipFill>
        <p:spPr>
          <a:xfrm>
            <a:off x="548640" y="1554480"/>
            <a:ext cx="2834240" cy="17714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301" name="Caption public"/>
          <p:cNvSpPr txBox="1"/>
          <p:nvPr/>
        </p:nvSpPr>
        <p:spPr>
          <a:xfrm>
            <a:off x="548640" y="3389888"/>
            <a:ext cx="283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>
                <a:solidFill>
                  <a:schemeClr val="tx2"/>
                </a:solidFill>
                <a:latin typeface="+mn-lt"/>
              </a:rPr>
              <a:t>Citizens: “Is my area affected?” with steps and numbers to call</a:t>
            </a:r>
          </a:p>
        </p:txBody>
      </p:sp>
      <p:pic>
        <p:nvPicPr>
          <p:cNvPr id="302" name="Screenshot dashboard" descr="Control room: cascade map, ranked alerts, AI briefing"/>
          <p:cNvPicPr>
            <a:picLocks noChangeAspect="1"/>
          </p:cNvPicPr>
          <p:nvPr/>
        </p:nvPicPr>
        <p:blipFill>
          <a:blip r:embed="rIdP1"/>
          <a:stretch>
            <a:fillRect/>
          </a:stretch>
        </p:blipFill>
        <p:spPr>
          <a:xfrm>
            <a:off x="3565760" y="1554480"/>
            <a:ext cx="2834240" cy="17714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303" name="Caption dashboard"/>
          <p:cNvSpPr txBox="1"/>
          <p:nvPr/>
        </p:nvSpPr>
        <p:spPr>
          <a:xfrm>
            <a:off x="3565760" y="3389888"/>
            <a:ext cx="283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>
                <a:solidFill>
                  <a:schemeClr val="tx2"/>
                </a:solidFill>
                <a:latin typeface="+mn-lt"/>
              </a:rPr>
              <a:t>Control room: cascade map, ranked alerts, AI briefing</a:t>
            </a:r>
          </a:p>
        </p:txBody>
      </p:sp>
      <p:pic>
        <p:nvPicPr>
          <p:cNvPr id="304" name="Screenshot official" descr="Officials: news inbox with trust scores; the fake post scores Low"/>
          <p:cNvPicPr>
            <a:picLocks noChangeAspect="1"/>
          </p:cNvPicPr>
          <p:nvPr/>
        </p:nvPicPr>
        <p:blipFill>
          <a:blip r:embed="rIdP2"/>
          <a:stretch>
            <a:fillRect/>
          </a:stretch>
        </p:blipFill>
        <p:spPr>
          <a:xfrm>
            <a:off x="548640" y="3749040"/>
            <a:ext cx="2834240" cy="17714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305" name="Caption official"/>
          <p:cNvSpPr txBox="1"/>
          <p:nvPr/>
        </p:nvSpPr>
        <p:spPr>
          <a:xfrm>
            <a:off x="548640" y="5584448"/>
            <a:ext cx="283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>
                <a:solidFill>
                  <a:schemeClr val="tx2"/>
                </a:solidFill>
                <a:latin typeface="+mn-lt"/>
              </a:rPr>
              <a:t>Officials: news inbox with trust scores; the fake post scores Low</a:t>
            </a:r>
          </a:p>
        </p:txBody>
      </p:sp>
      <p:pic>
        <p:nvPicPr>
          <p:cNvPr id="306" name="Screenshot drills" descr="Drills: replaying the July 2023 tricity floods against the clock"/>
          <p:cNvPicPr>
            <a:picLocks noChangeAspect="1"/>
          </p:cNvPicPr>
          <p:nvPr/>
        </p:nvPicPr>
        <p:blipFill>
          <a:blip r:embed="rIdP3"/>
          <a:stretch>
            <a:fillRect/>
          </a:stretch>
        </p:blipFill>
        <p:spPr>
          <a:xfrm>
            <a:off x="3565760" y="3749040"/>
            <a:ext cx="2834240" cy="17714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307" name="Caption drills"/>
          <p:cNvSpPr txBox="1"/>
          <p:nvPr/>
        </p:nvSpPr>
        <p:spPr>
          <a:xfrm>
            <a:off x="3565760" y="5584448"/>
            <a:ext cx="283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>
                <a:solidFill>
                  <a:schemeClr val="tx2"/>
                </a:solidFill>
                <a:latin typeface="+mn-lt"/>
              </a:rPr>
              <a:t>Drills: replaying the July 2023 tricity floods against the clock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Yudh Ember Brown">
  <a:themeElements>
    <a:clrScheme name="Code Yudh Ember Brown">
      <a:dk1>
        <a:srgbClr val="1E1612"/>
      </a:dk1>
      <a:lt1>
        <a:srgbClr val="FFFFFF"/>
      </a:lt1>
      <a:dk2>
        <a:srgbClr val="4A3B32"/>
      </a:dk2>
      <a:lt2>
        <a:srgbClr val="FFF4E8"/>
      </a:lt2>
      <a:accent1>
        <a:srgbClr val="E0701B"/>
      </a:accent1>
      <a:accent2>
        <a:srgbClr val="C9962B"/>
      </a:accent2>
      <a:accent3>
        <a:srgbClr val="8B2E16"/>
      </a:accent3>
      <a:accent4>
        <a:srgbClr val="5B4636"/>
      </a:accent4>
      <a:accent5>
        <a:srgbClr val="F2C27A"/>
      </a:accent5>
      <a:accent6>
        <a:srgbClr val="2E2420"/>
      </a:accent6>
      <a:hlink>
        <a:srgbClr val="E0701B"/>
      </a:hlink>
      <a:folHlink>
        <a:srgbClr val="8B2E16"/>
      </a:folHlink>
    </a:clrScheme>
    <a:fontScheme name="Code Yudh Ember Brow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1337</Words>
  <Application>Microsoft Office PowerPoint</Application>
  <PresentationFormat>Widescreen</PresentationFormat>
  <Paragraphs>252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Code Yudh Ember Brown</vt:lpstr>
      <vt:lpstr>PowerPoint Presentation</vt:lpstr>
      <vt:lpstr>Team Introduction &amp; Contributions</vt:lpstr>
      <vt:lpstr>Problem Statement</vt:lpstr>
      <vt:lpstr>Problem Context &amp; Existing Solutions</vt:lpstr>
      <vt:lpstr>Proposed Solution</vt:lpstr>
      <vt:lpstr>Key Features &amp; Innovation</vt:lpstr>
      <vt:lpstr>Proposed Workflow</vt:lpstr>
      <vt:lpstr>Proposed Tech Stack</vt:lpstr>
      <vt:lpstr>Feasibility &amp; Execution Plan</vt:lpstr>
      <vt:lpstr>Expected Impact &amp; Future Scope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Yudh Hackathon - Presentation Template</dc:title>
  <dc:subject>PptxGenJS Presentation</dc:subject>
  <dc:creator>Code Yudh, Chandigarh University</dc:creator>
  <cp:lastModifiedBy>CH GH</cp:lastModifiedBy>
  <cp:revision>4</cp:revision>
  <dcterms:created xsi:type="dcterms:W3CDTF">2026-10-03T04:39:10Z</dcterms:created>
  <dcterms:modified xsi:type="dcterms:W3CDTF">2026-10-12T18:13:28Z</dcterms:modified>
</cp:coreProperties>
</file>